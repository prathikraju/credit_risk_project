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14400" y="1371600"/>
            <a:ext cx="10058400" cy="137160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Credit Risk Model</a:t>
            </a:r>
            <a:endParaRPr lang="en-US" sz="4800" dirty="0"/>
          </a:p>
        </p:txBody>
      </p:sp>
      <p:sp>
        <p:nvSpPr>
          <p:cNvPr id="3" name="Text 1"/>
          <p:cNvSpPr/>
          <p:nvPr/>
        </p:nvSpPr>
        <p:spPr>
          <a:xfrm>
            <a:off x="914400" y="2743200"/>
            <a:ext cx="10058400" cy="548640"/>
          </a:xfrm>
          <a:prstGeom prst="rect">
            <a:avLst/>
          </a:prstGeom>
          <a:noFill/>
          <a:ln/>
        </p:spPr>
        <p:txBody>
          <a:bodyPr wrap="square" rtlCol="0" anchor="ctr"/>
          <a:lstStyle/>
          <a:p>
            <a:pPr algn="ctr" indent="0" marL="0">
              <a:buNone/>
            </a:pPr>
            <a:r>
              <a:rPr lang="en-US" sz="2000" dirty="0">
                <a:solidFill>
                  <a:srgbClr val="CADCFC"/>
                </a:solidFill>
                <a:latin typeface="Calibri" pitchFamily="34" charset="0"/>
                <a:ea typeface="Calibri" pitchFamily="34" charset="-122"/>
                <a:cs typeface="Calibri" pitchFamily="34" charset="-120"/>
              </a:rPr>
              <a:t>AI-Powered Default Prediction &amp; Credit Strategy</a:t>
            </a:r>
            <a:endParaRPr lang="en-US" sz="2000" dirty="0"/>
          </a:p>
        </p:txBody>
      </p:sp>
      <p:sp>
        <p:nvSpPr>
          <p:cNvPr id="4" name="Shape 2"/>
          <p:cNvSpPr/>
          <p:nvPr/>
        </p:nvSpPr>
        <p:spPr>
          <a:xfrm>
            <a:off x="5029200" y="3474720"/>
            <a:ext cx="2103120" cy="36576"/>
          </a:xfrm>
          <a:prstGeom prst="rect">
            <a:avLst/>
          </a:prstGeom>
          <a:solidFill>
            <a:srgbClr val="3B82F6"/>
          </a:solidFill>
          <a:ln/>
        </p:spPr>
      </p:sp>
      <p:sp>
        <p:nvSpPr>
          <p:cNvPr id="5" name="Text 3"/>
          <p:cNvSpPr/>
          <p:nvPr/>
        </p:nvSpPr>
        <p:spPr>
          <a:xfrm>
            <a:off x="914400" y="3931920"/>
            <a:ext cx="10058400" cy="45720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Prathik Raju</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Executive Summary</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4" name="Shape 2"/>
          <p:cNvSpPr/>
          <p:nvPr/>
        </p:nvSpPr>
        <p:spPr>
          <a:xfrm>
            <a:off x="548640" y="1371600"/>
            <a:ext cx="2560320" cy="1828800"/>
          </a:xfrm>
          <a:prstGeom prst="roundRect">
            <a:avLst>
              <a:gd name="adj" fmla="val 5000"/>
            </a:avLst>
          </a:prstGeom>
          <a:solidFill>
            <a:srgbClr val="F3F4F6"/>
          </a:solidFill>
          <a:ln/>
        </p:spPr>
      </p:sp>
      <p:sp>
        <p:nvSpPr>
          <p:cNvPr id="5" name="Text 3"/>
          <p:cNvSpPr/>
          <p:nvPr/>
        </p:nvSpPr>
        <p:spPr>
          <a:xfrm>
            <a:off x="548640" y="1554480"/>
            <a:ext cx="2560320" cy="731520"/>
          </a:xfrm>
          <a:prstGeom prst="rect">
            <a:avLst/>
          </a:prstGeom>
          <a:noFill/>
          <a:ln/>
        </p:spPr>
        <p:txBody>
          <a:bodyPr wrap="square" rtlCol="0" anchor="ctr"/>
          <a:lstStyle/>
          <a:p>
            <a:pPr algn="ctr" indent="0" marL="0">
              <a:buNone/>
            </a:pPr>
            <a:r>
              <a:rPr lang="en-US" sz="3200" b="1" dirty="0">
                <a:solidFill>
                  <a:srgbClr val="1E2761"/>
                </a:solidFill>
                <a:latin typeface="Calibri" pitchFamily="34" charset="0"/>
                <a:ea typeface="Calibri" pitchFamily="34" charset="-122"/>
                <a:cs typeface="Calibri" pitchFamily="34" charset="-120"/>
              </a:rPr>
              <a:t>0.943</a:t>
            </a:r>
            <a:endParaRPr lang="en-US" sz="3200" dirty="0"/>
          </a:p>
        </p:txBody>
      </p:sp>
      <p:sp>
        <p:nvSpPr>
          <p:cNvPr id="6" name="Text 4"/>
          <p:cNvSpPr/>
          <p:nvPr/>
        </p:nvSpPr>
        <p:spPr>
          <a:xfrm>
            <a:off x="548640" y="2194560"/>
            <a:ext cx="2560320" cy="457200"/>
          </a:xfrm>
          <a:prstGeom prst="rect">
            <a:avLst/>
          </a:prstGeom>
          <a:noFill/>
          <a:ln/>
        </p:spPr>
        <p:txBody>
          <a:bodyPr wrap="square"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AUC Score</a:t>
            </a:r>
            <a:endParaRPr lang="en-US" sz="1400" dirty="0"/>
          </a:p>
        </p:txBody>
      </p:sp>
      <p:sp>
        <p:nvSpPr>
          <p:cNvPr id="7" name="Text 5"/>
          <p:cNvSpPr/>
          <p:nvPr/>
        </p:nvSpPr>
        <p:spPr>
          <a:xfrm>
            <a:off x="548640" y="2560320"/>
            <a:ext cx="2560320" cy="36576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XGBoost Model</a:t>
            </a:r>
            <a:endParaRPr lang="en-US" sz="1100" dirty="0"/>
          </a:p>
        </p:txBody>
      </p:sp>
      <p:sp>
        <p:nvSpPr>
          <p:cNvPr id="8" name="Shape 6"/>
          <p:cNvSpPr/>
          <p:nvPr/>
        </p:nvSpPr>
        <p:spPr>
          <a:xfrm>
            <a:off x="3383280" y="1371600"/>
            <a:ext cx="2560320" cy="1828800"/>
          </a:xfrm>
          <a:prstGeom prst="roundRect">
            <a:avLst>
              <a:gd name="adj" fmla="val 5000"/>
            </a:avLst>
          </a:prstGeom>
          <a:solidFill>
            <a:srgbClr val="F3F4F6"/>
          </a:solidFill>
          <a:ln/>
        </p:spPr>
      </p:sp>
      <p:sp>
        <p:nvSpPr>
          <p:cNvPr id="9" name="Text 7"/>
          <p:cNvSpPr/>
          <p:nvPr/>
        </p:nvSpPr>
        <p:spPr>
          <a:xfrm>
            <a:off x="3383280" y="1554480"/>
            <a:ext cx="2560320" cy="731520"/>
          </a:xfrm>
          <a:prstGeom prst="rect">
            <a:avLst/>
          </a:prstGeom>
          <a:noFill/>
          <a:ln/>
        </p:spPr>
        <p:txBody>
          <a:bodyPr wrap="square" rtlCol="0" anchor="ctr"/>
          <a:lstStyle/>
          <a:p>
            <a:pPr algn="ctr" indent="0" marL="0">
              <a:buNone/>
            </a:pPr>
            <a:r>
              <a:rPr lang="en-US" sz="3200" b="1" dirty="0">
                <a:solidFill>
                  <a:srgbClr val="1E2761"/>
                </a:solidFill>
                <a:latin typeface="Calibri" pitchFamily="34" charset="0"/>
                <a:ea typeface="Calibri" pitchFamily="34" charset="-122"/>
                <a:cs typeface="Calibri" pitchFamily="34" charset="-120"/>
              </a:rPr>
              <a:t>1.63%</a:t>
            </a:r>
            <a:endParaRPr lang="en-US" sz="3200" dirty="0"/>
          </a:p>
        </p:txBody>
      </p:sp>
      <p:sp>
        <p:nvSpPr>
          <p:cNvPr id="10" name="Text 8"/>
          <p:cNvSpPr/>
          <p:nvPr/>
        </p:nvSpPr>
        <p:spPr>
          <a:xfrm>
            <a:off x="3383280" y="2194560"/>
            <a:ext cx="2560320" cy="457200"/>
          </a:xfrm>
          <a:prstGeom prst="rect">
            <a:avLst/>
          </a:prstGeom>
          <a:noFill/>
          <a:ln/>
        </p:spPr>
        <p:txBody>
          <a:bodyPr wrap="square"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Conservative DR</a:t>
            </a:r>
            <a:endParaRPr lang="en-US" sz="1400" dirty="0"/>
          </a:p>
        </p:txBody>
      </p:sp>
      <p:sp>
        <p:nvSpPr>
          <p:cNvPr id="11" name="Text 9"/>
          <p:cNvSpPr/>
          <p:nvPr/>
        </p:nvSpPr>
        <p:spPr>
          <a:xfrm>
            <a:off x="3383280" y="2560320"/>
            <a:ext cx="2560320" cy="36576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Threshold: 0.50</a:t>
            </a:r>
            <a:endParaRPr lang="en-US" sz="1100" dirty="0"/>
          </a:p>
        </p:txBody>
      </p:sp>
      <p:sp>
        <p:nvSpPr>
          <p:cNvPr id="12" name="Shape 10"/>
          <p:cNvSpPr/>
          <p:nvPr/>
        </p:nvSpPr>
        <p:spPr>
          <a:xfrm>
            <a:off x="6217920" y="1371600"/>
            <a:ext cx="2560320" cy="1828800"/>
          </a:xfrm>
          <a:prstGeom prst="roundRect">
            <a:avLst>
              <a:gd name="adj" fmla="val 5000"/>
            </a:avLst>
          </a:prstGeom>
          <a:solidFill>
            <a:srgbClr val="F3F4F6"/>
          </a:solidFill>
          <a:ln/>
        </p:spPr>
      </p:sp>
      <p:sp>
        <p:nvSpPr>
          <p:cNvPr id="13" name="Text 11"/>
          <p:cNvSpPr/>
          <p:nvPr/>
        </p:nvSpPr>
        <p:spPr>
          <a:xfrm>
            <a:off x="6217920" y="1554480"/>
            <a:ext cx="2560320" cy="731520"/>
          </a:xfrm>
          <a:prstGeom prst="rect">
            <a:avLst/>
          </a:prstGeom>
          <a:noFill/>
          <a:ln/>
        </p:spPr>
        <p:txBody>
          <a:bodyPr wrap="square" rtlCol="0" anchor="ctr"/>
          <a:lstStyle/>
          <a:p>
            <a:pPr algn="ctr" indent="0" marL="0">
              <a:buNone/>
            </a:pPr>
            <a:r>
              <a:rPr lang="en-US" sz="3200" b="1" dirty="0">
                <a:solidFill>
                  <a:srgbClr val="1E2761"/>
                </a:solidFill>
                <a:latin typeface="Calibri" pitchFamily="34" charset="0"/>
                <a:ea typeface="Calibri" pitchFamily="34" charset="-122"/>
                <a:cs typeface="Calibri" pitchFamily="34" charset="-120"/>
              </a:rPr>
              <a:t>7.99%</a:t>
            </a:r>
            <a:endParaRPr lang="en-US" sz="3200" dirty="0"/>
          </a:p>
        </p:txBody>
      </p:sp>
      <p:sp>
        <p:nvSpPr>
          <p:cNvPr id="14" name="Text 12"/>
          <p:cNvSpPr/>
          <p:nvPr/>
        </p:nvSpPr>
        <p:spPr>
          <a:xfrm>
            <a:off x="6217920" y="2194560"/>
            <a:ext cx="2560320" cy="457200"/>
          </a:xfrm>
          <a:prstGeom prst="rect">
            <a:avLst/>
          </a:prstGeom>
          <a:noFill/>
          <a:ln/>
        </p:spPr>
        <p:txBody>
          <a:bodyPr wrap="square"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Aggressive DR</a:t>
            </a:r>
            <a:endParaRPr lang="en-US" sz="1400" dirty="0"/>
          </a:p>
        </p:txBody>
      </p:sp>
      <p:sp>
        <p:nvSpPr>
          <p:cNvPr id="15" name="Text 13"/>
          <p:cNvSpPr/>
          <p:nvPr/>
        </p:nvSpPr>
        <p:spPr>
          <a:xfrm>
            <a:off x="6217920" y="2560320"/>
            <a:ext cx="2560320" cy="36576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Threshold: 0.75</a:t>
            </a:r>
            <a:endParaRPr lang="en-US" sz="1100" dirty="0"/>
          </a:p>
        </p:txBody>
      </p:sp>
      <p:sp>
        <p:nvSpPr>
          <p:cNvPr id="16" name="Shape 14"/>
          <p:cNvSpPr/>
          <p:nvPr/>
        </p:nvSpPr>
        <p:spPr>
          <a:xfrm>
            <a:off x="9052560" y="1371600"/>
            <a:ext cx="2560320" cy="1828800"/>
          </a:xfrm>
          <a:prstGeom prst="roundRect">
            <a:avLst>
              <a:gd name="adj" fmla="val 5000"/>
            </a:avLst>
          </a:prstGeom>
          <a:solidFill>
            <a:srgbClr val="F3F4F6"/>
          </a:solidFill>
          <a:ln/>
        </p:spPr>
      </p:sp>
      <p:sp>
        <p:nvSpPr>
          <p:cNvPr id="17" name="Text 15"/>
          <p:cNvSpPr/>
          <p:nvPr/>
        </p:nvSpPr>
        <p:spPr>
          <a:xfrm>
            <a:off x="9052560" y="1554480"/>
            <a:ext cx="2560320" cy="731520"/>
          </a:xfrm>
          <a:prstGeom prst="rect">
            <a:avLst/>
          </a:prstGeom>
          <a:noFill/>
          <a:ln/>
        </p:spPr>
        <p:txBody>
          <a:bodyPr wrap="square" rtlCol="0" anchor="ctr"/>
          <a:lstStyle/>
          <a:p>
            <a:pPr algn="ctr" indent="0" marL="0">
              <a:buNone/>
            </a:pPr>
            <a:r>
              <a:rPr lang="en-US" sz="3200" b="1" dirty="0">
                <a:solidFill>
                  <a:srgbClr val="1E2761"/>
                </a:solidFill>
                <a:latin typeface="Calibri" pitchFamily="34" charset="0"/>
                <a:ea typeface="Calibri" pitchFamily="34" charset="-122"/>
                <a:cs typeface="Calibri" pitchFamily="34" charset="-120"/>
              </a:rPr>
              <a:t>94%</a:t>
            </a:r>
            <a:endParaRPr lang="en-US" sz="3200" dirty="0"/>
          </a:p>
        </p:txBody>
      </p:sp>
      <p:sp>
        <p:nvSpPr>
          <p:cNvPr id="18" name="Text 16"/>
          <p:cNvSpPr/>
          <p:nvPr/>
        </p:nvSpPr>
        <p:spPr>
          <a:xfrm>
            <a:off x="9052560" y="2194560"/>
            <a:ext cx="2560320" cy="457200"/>
          </a:xfrm>
          <a:prstGeom prst="rect">
            <a:avLst/>
          </a:prstGeom>
          <a:noFill/>
          <a:ln/>
        </p:spPr>
        <p:txBody>
          <a:bodyPr wrap="square" rtlCol="0" anchor="ctr"/>
          <a:lstStyle/>
          <a:p>
            <a:pPr algn="ctr" indent="0" marL="0">
              <a:buNone/>
            </a:pPr>
            <a:r>
              <a:rPr lang="en-US" sz="1400" b="1" dirty="0">
                <a:solidFill>
                  <a:srgbClr val="3B82F6"/>
                </a:solidFill>
                <a:latin typeface="Calibri" pitchFamily="34" charset="0"/>
                <a:ea typeface="Calibri" pitchFamily="34" charset="-122"/>
                <a:cs typeface="Calibri" pitchFamily="34" charset="-120"/>
              </a:rPr>
              <a:t>Revenue Uplift</a:t>
            </a:r>
            <a:endParaRPr lang="en-US" sz="1400" dirty="0"/>
          </a:p>
        </p:txBody>
      </p:sp>
      <p:sp>
        <p:nvSpPr>
          <p:cNvPr id="19" name="Text 17"/>
          <p:cNvSpPr/>
          <p:nvPr/>
        </p:nvSpPr>
        <p:spPr>
          <a:xfrm>
            <a:off x="9052560" y="2560320"/>
            <a:ext cx="2560320" cy="365760"/>
          </a:xfrm>
          <a:prstGeom prst="rect">
            <a:avLst/>
          </a:prstGeom>
          <a:noFill/>
          <a:ln/>
        </p:spPr>
        <p:txBody>
          <a:bodyPr wrap="square"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Aggressive vs Conservative</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31520" y="3657600"/>
          <a:ext cx="10515600" cy="914400"/>
        </p:xfrm>
        <a:graphic>
          <a:graphicData uri="http://schemas.openxmlformats.org/drawingml/2006/table">
            <a:tbl>
              <a:tblPr/>
              <a:tblGrid>
                <a:gridCol w="2103120"/>
                <a:gridCol w="2103120"/>
                <a:gridCol w="2103120"/>
                <a:gridCol w="2103120"/>
                <a:gridCol w="210312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Threshold</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Default Rate</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Accepted %</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Revenue (Train)</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6576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Conservative</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1.63%</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57.4%</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$364.55</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Aggressive</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0.75</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7.99%</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74.2%</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300" dirty="0">
                          <a:solidFill>
                            <a:srgbClr val="000000"/>
                          </a:solidFill>
                          <a:latin typeface="Calibri" pitchFamily="34" charset="0"/>
                          <a:ea typeface="Calibri" pitchFamily="34" charset="-122"/>
                          <a:cs typeface="Calibri" pitchFamily="34" charset="-120"/>
                        </a:rPr>
                        <a:t>$706.64</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21" name="Text 18"/>
          <p:cNvSpPr/>
          <p:nvPr/>
        </p:nvSpPr>
        <p:spPr>
          <a:xfrm>
            <a:off x="731520" y="4846320"/>
            <a:ext cx="10515600" cy="91440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Recommendation: The Aggressive Strategy maximizes revenue at $706.64 while keeping default rate at 7.99%, well within the 10% risk tolerance. It accepts 74.2% of applicants compared to 57.4% under the conservative approach, nearly doubling projected revenue.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Data Overview</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4" name="Text 2"/>
          <p:cNvSpPr/>
          <p:nvPr/>
        </p:nvSpPr>
        <p:spPr>
          <a:xfrm>
            <a:off x="548640" y="1097280"/>
            <a:ext cx="5943600" cy="82296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We selected April 2018 originations as our observation point because it provides the most recent complete snapshot of customer behavior, ensuring our model reflects current market conditions and spending patterns.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5943600" cy="914400"/>
        </p:xfrm>
        <a:graphic>
          <a:graphicData uri="http://schemas.openxmlformats.org/drawingml/2006/table">
            <a:tbl>
              <a:tblPr/>
              <a:tblGrid>
                <a:gridCol w="2011680"/>
                <a:gridCol w="2011680"/>
                <a:gridCol w="1920240"/>
              </a:tblGrid>
              <a:tr h="29260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Months of History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 Customers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Default Rate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13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79,285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22.97%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12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1,368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47.08%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751</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48.47%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1,177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49.36%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1,163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46.09%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1,086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47.05%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7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889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45.44%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968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44.63%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910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40.55%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913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44.36%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1,146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34.99%</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2 Months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1,143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31.58%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 Month</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984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33.13%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6858000" y="2103120"/>
            <a:ext cx="4754880" cy="2743200"/>
          </a:xfrm>
          <a:prstGeom prst="roundRect">
            <a:avLst>
              <a:gd name="adj" fmla="val 3333"/>
            </a:avLst>
          </a:prstGeom>
          <a:solidFill>
            <a:srgbClr val="F3F4F6"/>
          </a:solidFill>
          <a:ln/>
        </p:spPr>
      </p:sp>
      <p:sp>
        <p:nvSpPr>
          <p:cNvPr id="7" name="Text 4"/>
          <p:cNvSpPr/>
          <p:nvPr/>
        </p:nvSpPr>
        <p:spPr>
          <a:xfrm>
            <a:off x="7132320" y="2286000"/>
            <a:ext cx="4206240" cy="457200"/>
          </a:xfrm>
          <a:prstGeom prst="rect">
            <a:avLst/>
          </a:prstGeom>
          <a:noFill/>
          <a:ln/>
        </p:spPr>
        <p:txBody>
          <a:bodyPr wrap="square" rtlCol="0" anchor="ctr"/>
          <a:lstStyle/>
          <a:p>
            <a:pPr indent="0" marL="0">
              <a:buNone/>
            </a:pPr>
            <a:r>
              <a:rPr lang="en-US" sz="1800" b="1" dirty="0">
                <a:solidFill>
                  <a:srgbClr val="1E2761"/>
                </a:solidFill>
                <a:latin typeface="Calibri" pitchFamily="34" charset="0"/>
                <a:ea typeface="Calibri" pitchFamily="34" charset="-122"/>
                <a:cs typeface="Calibri" pitchFamily="34" charset="-120"/>
              </a:rPr>
              <a:t>Key Insights</a:t>
            </a:r>
            <a:endParaRPr lang="en-US" sz="1800" dirty="0"/>
          </a:p>
        </p:txBody>
      </p:sp>
      <p:sp>
        <p:nvSpPr>
          <p:cNvPr id="8" name="Text 5"/>
          <p:cNvSpPr/>
          <p:nvPr/>
        </p:nvSpPr>
        <p:spPr>
          <a:xfrm>
            <a:off x="7132320" y="2743200"/>
            <a:ext cx="4206240" cy="2011680"/>
          </a:xfrm>
          <a:prstGeom prst="rect">
            <a:avLst/>
          </a:prstGeom>
          <a:noFill/>
          <a:ln/>
        </p:spPr>
        <p:txBody>
          <a:bodyPr wrap="square" rtlCol="0" anchor="t"/>
          <a:lstStyle/>
          <a:p>
            <a:pPr indent="0" marL="0">
              <a:lnSpc>
                <a:spcPct val="110000"/>
              </a:lnSpc>
              <a:buNone/>
            </a:pPr>
            <a:r>
              <a:rPr lang="en-US" sz="1200" dirty="0">
                <a:solidFill>
                  <a:srgbClr val="0D1B2A"/>
                </a:solidFill>
                <a:latin typeface="Calibri" pitchFamily="34" charset="0"/>
                <a:ea typeface="Calibri" pitchFamily="34" charset="-122"/>
                <a:cs typeface="Calibri" pitchFamily="34" charset="-120"/>
              </a:rPr>
              <a:t>Total sample: 91,783 customers (20% random sample)</a:t>
            </a:r>
            <a:endParaRPr lang="en-US" sz="1200" dirty="0"/>
          </a:p>
          <a:p>
            <a:pPr indent="0" marL="0">
              <a:lnSpc>
                <a:spcPct val="110000"/>
              </a:lnSpc>
              <a:buNone/>
            </a:pPr>
            <a:endParaRPr lang="en-US" sz="1200" dirty="0"/>
          </a:p>
          <a:p>
            <a:pPr indent="0" marL="0">
              <a:lnSpc>
                <a:spcPct val="110000"/>
              </a:lnSpc>
              <a:buNone/>
            </a:pPr>
            <a:r>
              <a:rPr lang="en-US" sz="1200" dirty="0">
                <a:solidFill>
                  <a:srgbClr val="0D1B2A"/>
                </a:solidFill>
                <a:latin typeface="Calibri" pitchFamily="34" charset="0"/>
                <a:ea typeface="Calibri" pitchFamily="34" charset="-122"/>
                <a:cs typeface="Calibri" pitchFamily="34" charset="-120"/>
              </a:rPr>
              <a:t>Overall default rate: 25.74%</a:t>
            </a:r>
            <a:endParaRPr lang="en-US" sz="1200" dirty="0"/>
          </a:p>
          <a:p>
            <a:pPr indent="0" marL="0">
              <a:lnSpc>
                <a:spcPct val="110000"/>
              </a:lnSpc>
              <a:buNone/>
            </a:pPr>
            <a:endParaRPr lang="en-US" sz="1200" dirty="0"/>
          </a:p>
          <a:p>
            <a:pPr indent="0" marL="0">
              <a:lnSpc>
                <a:spcPct val="110000"/>
              </a:lnSpc>
              <a:buNone/>
            </a:pPr>
            <a:r>
              <a:rPr lang="en-US" sz="1200" dirty="0">
                <a:solidFill>
                  <a:srgbClr val="0D1B2A"/>
                </a:solidFill>
                <a:latin typeface="Calibri" pitchFamily="34" charset="0"/>
                <a:ea typeface="Calibri" pitchFamily="34" charset="-122"/>
                <a:cs typeface="Calibri" pitchFamily="34" charset="-120"/>
              </a:rPr>
              <a:t>86% of customers have full 13-month history with 22.97% default rate</a:t>
            </a:r>
            <a:endParaRPr lang="en-US" sz="1200" dirty="0"/>
          </a:p>
          <a:p>
            <a:pPr indent="0" marL="0">
              <a:lnSpc>
                <a:spcPct val="110000"/>
              </a:lnSpc>
              <a:buNone/>
            </a:pPr>
            <a:endParaRPr lang="en-US" sz="1200" dirty="0"/>
          </a:p>
          <a:p>
            <a:pPr indent="0" marL="0">
              <a:lnSpc>
                <a:spcPct val="110000"/>
              </a:lnSpc>
              <a:buNone/>
            </a:pPr>
            <a:r>
              <a:rPr lang="en-US" sz="1200" dirty="0">
                <a:solidFill>
                  <a:srgbClr val="0D1B2A"/>
                </a:solidFill>
                <a:latin typeface="Calibri" pitchFamily="34" charset="0"/>
                <a:ea typeface="Calibri" pitchFamily="34" charset="-122"/>
                <a:cs typeface="Calibri" pitchFamily="34" charset="-120"/>
              </a:rPr>
              <a:t>Newer customers (1-12 months) default at 31-49%, nearly double the rate of established customers</a:t>
            </a:r>
            <a:endParaRPr lang="en-US" sz="1200" dirty="0"/>
          </a:p>
          <a:p>
            <a:pPr indent="0" marL="0">
              <a:lnSpc>
                <a:spcPct val="110000"/>
              </a:lnSpc>
              <a:buNone/>
            </a:pPr>
            <a:endParaRPr lang="en-US" sz="1200" dirty="0"/>
          </a:p>
          <a:p>
            <a:pPr indent="0" marL="0">
              <a:lnSpc>
                <a:spcPct val="110000"/>
              </a:lnSpc>
              <a:buNone/>
            </a:pPr>
            <a:r>
              <a:rPr lang="en-US" sz="1200" dirty="0">
                <a:solidFill>
                  <a:srgbClr val="0D1B2A"/>
                </a:solidFill>
                <a:latin typeface="Calibri" pitchFamily="34" charset="0"/>
                <a:ea typeface="Calibri" pitchFamily="34" charset="-122"/>
                <a:cs typeface="Calibri" pitchFamily="34" charset="-120"/>
              </a:rPr>
              <a:t>Target variable: Binary (1 = Default, 0 = No Default)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Raw Features</a:t>
            </a:r>
            <a:endParaRPr lang="en-US" sz="36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Categories of independent variables in the raw data</a:t>
            </a:r>
            <a:endParaRPr lang="en-US" sz="1600" dirty="0"/>
          </a:p>
        </p:txBody>
      </p:sp>
      <p:sp>
        <p:nvSpPr>
          <p:cNvPr id="4" name="Text 2"/>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515600" cy="914400"/>
        </p:xfrm>
        <a:graphic>
          <a:graphicData uri="http://schemas.openxmlformats.org/drawingml/2006/table">
            <a:tbl>
              <a:tblPr/>
              <a:tblGrid>
                <a:gridCol w="2103120"/>
                <a:gridCol w="1371600"/>
                <a:gridCol w="1371600"/>
                <a:gridCol w="5669280"/>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Prefix</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 Features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41148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Delinquency</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D_</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Payment delinquency and default history</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Spend</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S_</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Customer spending patterns and amounts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Payment</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P_</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Payment behavior and amounts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Balance</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B_</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42</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Account balances and utilization</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Risk</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R_</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28</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300" dirty="0">
                          <a:solidFill>
                            <a:srgbClr val="000000"/>
                          </a:solidFill>
                          <a:latin typeface="Calibri" pitchFamily="34" charset="0"/>
                          <a:ea typeface="Calibri" pitchFamily="34" charset="-122"/>
                          <a:cs typeface="Calibri" pitchFamily="34" charset="-120"/>
                        </a:rPr>
                        <a:t>Risk indicators and scores</a:t>
                      </a:r>
                      <a:endParaRPr lang="en-US" sz="13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731520" y="4389120"/>
            <a:ext cx="10515600" cy="54864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Total: 190 raw features across 5 categories, covering the full spectrum of credit card customer behavior over up to 13 monthly statements (March 2017 to March 2018).</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Feature Engineering</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Each customer has up to 13 monthly records. We aggregated these into customer-level features:</a:t>
            </a:r>
            <a:endParaRPr lang="en-US" sz="1400" dirty="0"/>
          </a:p>
        </p:txBody>
      </p:sp>
      <p:sp>
        <p:nvSpPr>
          <p:cNvPr id="5" name="Shape 3"/>
          <p:cNvSpPr/>
          <p:nvPr/>
        </p:nvSpPr>
        <p:spPr>
          <a:xfrm>
            <a:off x="548640" y="1737360"/>
            <a:ext cx="5303520" cy="2926080"/>
          </a:xfrm>
          <a:prstGeom prst="roundRect">
            <a:avLst>
              <a:gd name="adj" fmla="val 3125"/>
            </a:avLst>
          </a:prstGeom>
          <a:solidFill>
            <a:srgbClr val="F3F4F6"/>
          </a:solidFill>
          <a:ln/>
        </p:spPr>
      </p:sp>
      <p:sp>
        <p:nvSpPr>
          <p:cNvPr id="6" name="Text 4"/>
          <p:cNvSpPr/>
          <p:nvPr/>
        </p:nvSpPr>
        <p:spPr>
          <a:xfrm>
            <a:off x="822960" y="1828800"/>
            <a:ext cx="475488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Numerical Features</a:t>
            </a:r>
            <a:endParaRPr lang="en-US" sz="1600" dirty="0"/>
          </a:p>
        </p:txBody>
      </p:sp>
      <p:sp>
        <p:nvSpPr>
          <p:cNvPr id="7" name="Text 5"/>
          <p:cNvSpPr/>
          <p:nvPr/>
        </p:nvSpPr>
        <p:spPr>
          <a:xfrm>
            <a:off x="822960" y="2286000"/>
            <a:ext cx="4754880" cy="2194560"/>
          </a:xfrm>
          <a:prstGeom prst="rect">
            <a:avLst/>
          </a:prstGeom>
          <a:noFill/>
          <a:ln/>
        </p:spPr>
        <p:txBody>
          <a:bodyPr wrap="square" rtlCol="0" anchor="t"/>
          <a:lstStyle/>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Mean over last 6 months (e.g., P_2_mean_6)</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Mean over last 12 months (e.g., P_2_mean_12)</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Min over last 6 &amp; 12 months</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Max over last 6 &amp; 12 months</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Most recent value (e.g., P_2_latest)</a:t>
            </a:r>
            <a:endParaRPr lang="en-US" sz="1200" dirty="0"/>
          </a:p>
          <a:p>
            <a:pPr indent="0" marL="0">
              <a:lnSpc>
                <a:spcPct val="140000"/>
              </a:lnSpc>
              <a:buNone/>
            </a:pP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177 raw features x 7 aggregations = 1,239 features</a:t>
            </a:r>
            <a:endParaRPr lang="en-US" sz="1200" dirty="0"/>
          </a:p>
        </p:txBody>
      </p:sp>
      <p:sp>
        <p:nvSpPr>
          <p:cNvPr id="8" name="Shape 6"/>
          <p:cNvSpPr/>
          <p:nvPr/>
        </p:nvSpPr>
        <p:spPr>
          <a:xfrm>
            <a:off x="6217920" y="1737360"/>
            <a:ext cx="5303520" cy="2926080"/>
          </a:xfrm>
          <a:prstGeom prst="roundRect">
            <a:avLst>
              <a:gd name="adj" fmla="val 3125"/>
            </a:avLst>
          </a:prstGeom>
          <a:solidFill>
            <a:srgbClr val="F3F4F6"/>
          </a:solidFill>
          <a:ln/>
        </p:spPr>
      </p:sp>
      <p:sp>
        <p:nvSpPr>
          <p:cNvPr id="9" name="Text 7"/>
          <p:cNvSpPr/>
          <p:nvPr/>
        </p:nvSpPr>
        <p:spPr>
          <a:xfrm>
            <a:off x="6492240" y="1828800"/>
            <a:ext cx="475488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Categorical (Binary) Features</a:t>
            </a:r>
            <a:endParaRPr lang="en-US" sz="1600" dirty="0"/>
          </a:p>
        </p:txBody>
      </p:sp>
      <p:sp>
        <p:nvSpPr>
          <p:cNvPr id="10" name="Text 8"/>
          <p:cNvSpPr/>
          <p:nvPr/>
        </p:nvSpPr>
        <p:spPr>
          <a:xfrm>
            <a:off x="6492240" y="2286000"/>
            <a:ext cx="4754880" cy="2194560"/>
          </a:xfrm>
          <a:prstGeom prst="rect">
            <a:avLst/>
          </a:prstGeom>
          <a:noFill/>
          <a:ln/>
        </p:spPr>
        <p:txBody>
          <a:bodyPr wrap="square" rtlCol="0" anchor="t"/>
          <a:lstStyle/>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Response Rate over 6 months (% of months = 1)</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Response Rate over 12 months</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Ever Response in 6 months (any month = 1)</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Ever Response in 12 months</a:t>
            </a: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Most recent value (latest)</a:t>
            </a:r>
            <a:endParaRPr lang="en-US" sz="1200" dirty="0"/>
          </a:p>
          <a:p>
            <a:pPr indent="0" marL="0">
              <a:lnSpc>
                <a:spcPct val="140000"/>
              </a:lnSpc>
              <a:buNone/>
            </a:pPr>
            <a:endParaRPr lang="en-US" sz="1200" dirty="0"/>
          </a:p>
          <a:p>
            <a:pPr indent="0" marL="0">
              <a:lnSpc>
                <a:spcPct val="140000"/>
              </a:lnSpc>
              <a:buNone/>
            </a:pPr>
            <a:r>
              <a:rPr lang="en-US" sz="1200" dirty="0">
                <a:solidFill>
                  <a:srgbClr val="0D1B2A"/>
                </a:solidFill>
                <a:latin typeface="Calibri" pitchFamily="34" charset="0"/>
                <a:ea typeface="Calibri" pitchFamily="34" charset="-122"/>
                <a:cs typeface="Calibri" pitchFamily="34" charset="-120"/>
              </a:rPr>
              <a:t>56 binary features x 5 aggregations = 280 features</a:t>
            </a:r>
            <a:endParaRPr lang="en-US" sz="1200" dirty="0"/>
          </a:p>
        </p:txBody>
      </p:sp>
      <p:sp>
        <p:nvSpPr>
          <p:cNvPr id="11" name="Shape 9"/>
          <p:cNvSpPr/>
          <p:nvPr/>
        </p:nvSpPr>
        <p:spPr>
          <a:xfrm>
            <a:off x="3200400" y="4937760"/>
            <a:ext cx="5760720" cy="640080"/>
          </a:xfrm>
          <a:prstGeom prst="roundRect">
            <a:avLst>
              <a:gd name="adj" fmla="val 14286"/>
            </a:avLst>
          </a:prstGeom>
          <a:solidFill>
            <a:srgbClr val="1E2761"/>
          </a:solidFill>
          <a:ln/>
        </p:spPr>
      </p:sp>
      <p:sp>
        <p:nvSpPr>
          <p:cNvPr id="12" name="Text 10"/>
          <p:cNvSpPr/>
          <p:nvPr/>
        </p:nvSpPr>
        <p:spPr>
          <a:xfrm>
            <a:off x="3200400" y="4937760"/>
            <a:ext cx="57607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Total Engineered Features: 1,520</a:t>
            </a:r>
            <a:endParaRPr lang="en-US" sz="2000" dirty="0"/>
          </a:p>
        </p:txBody>
      </p:sp>
      <p:sp>
        <p:nvSpPr>
          <p:cNvPr id="13" name="Text 11"/>
          <p:cNvSpPr/>
          <p:nvPr/>
        </p:nvSpPr>
        <p:spPr>
          <a:xfrm>
            <a:off x="548640" y="5760720"/>
            <a:ext cx="10972800" cy="36576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Top 5 Features by SHAP Importance: P_2_latest, P_2_min_6, B_1_latest, B_2_latest, D_44_latest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Data Processing: One-Hot Encoding</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6858000" cy="914400"/>
        </p:xfrm>
        <a:graphic>
          <a:graphicData uri="http://schemas.openxmlformats.org/drawingml/2006/table">
            <a:tbl>
              <a:tblPr/>
              <a:tblGrid>
                <a:gridCol w="1097280"/>
                <a:gridCol w="1645920"/>
                <a:gridCol w="1371600"/>
                <a:gridCol w="2743200"/>
              </a:tblGrid>
              <a:tr h="320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Unique Values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 Values</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D_63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CL, CO, CR, XL, XM, XZ</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D_64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String</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O, R, U,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B_30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2,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B_38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 2, 3, 4, 5, 6, 7,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D_114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D_116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D_117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 1, 2, 3, 4, 5, 6,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D_120</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D_126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-1, 0,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D_66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74320">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D_68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Numeric Code</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100" dirty="0">
                          <a:solidFill>
                            <a:srgbClr val="000000"/>
                          </a:solidFill>
                          <a:latin typeface="Calibri" pitchFamily="34" charset="0"/>
                          <a:ea typeface="Calibri" pitchFamily="34" charset="-122"/>
                          <a:cs typeface="Calibri" pitchFamily="34" charset="-120"/>
                        </a:rPr>
                        <a:t>0, 1, 2, 3, 4, 5, 6, NaN</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5" name="Shape 2"/>
          <p:cNvSpPr/>
          <p:nvPr/>
        </p:nvSpPr>
        <p:spPr>
          <a:xfrm>
            <a:off x="7772400" y="1188720"/>
            <a:ext cx="3931920" cy="2743200"/>
          </a:xfrm>
          <a:prstGeom prst="roundRect">
            <a:avLst>
              <a:gd name="adj" fmla="val 3333"/>
            </a:avLst>
          </a:prstGeom>
          <a:solidFill>
            <a:srgbClr val="0D1B2A"/>
          </a:solidFill>
          <a:ln/>
        </p:spPr>
      </p:sp>
      <p:sp>
        <p:nvSpPr>
          <p:cNvPr id="6" name="Text 3"/>
          <p:cNvSpPr/>
          <p:nvPr/>
        </p:nvSpPr>
        <p:spPr>
          <a:xfrm>
            <a:off x="7955280" y="1371600"/>
            <a:ext cx="3566160" cy="2377440"/>
          </a:xfrm>
          <a:prstGeom prst="rect">
            <a:avLst/>
          </a:prstGeom>
          <a:noFill/>
          <a:ln/>
        </p:spPr>
        <p:txBody>
          <a:bodyPr wrap="square" rtlCol="0" anchor="t"/>
          <a:lstStyle/>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cat_features = [</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"B_30","B_38","D_114",</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"D_116","D_117","D_120",</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"D_126","D_63","D_64",</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"D_66","D_68"</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a:t>
            </a:r>
            <a:endParaRPr lang="en-US" sz="1000" dirty="0"/>
          </a:p>
          <a:p>
            <a:pPr indent="0" marL="0">
              <a:lnSpc>
                <a:spcPct val="130000"/>
              </a:lnSpc>
              <a:buNone/>
            </a:pP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train_m = pd.get_dummies(</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train_m,</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columns=cat_features,</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  dummy_na=True</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a:t>
            </a:r>
            <a:endParaRPr lang="en-US" sz="1000" dirty="0"/>
          </a:p>
        </p:txBody>
      </p:sp>
      <p:sp>
        <p:nvSpPr>
          <p:cNvPr id="7" name="Text 4"/>
          <p:cNvSpPr/>
          <p:nvPr/>
        </p:nvSpPr>
        <p:spPr>
          <a:xfrm>
            <a:off x="548640" y="5029200"/>
            <a:ext cx="10972800" cy="54864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Result: 11 categorical columns replaced with 56 binary (0/1) columns. dummy_na=True ensures missing values are captured as their own category, since missingness is often predictive in credit data.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Feature Selection</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We trained two XGBoost models to identify the most predictive features, then kept any feature with importance &gt; 0.5% in either model.</a:t>
            </a:r>
            <a:endParaRPr lang="en-US" sz="1400" dirty="0"/>
          </a:p>
        </p:txBody>
      </p:sp>
      <p:sp>
        <p:nvSpPr>
          <p:cNvPr id="5" name="Shape 3"/>
          <p:cNvSpPr/>
          <p:nvPr/>
        </p:nvSpPr>
        <p:spPr>
          <a:xfrm>
            <a:off x="548640" y="1737360"/>
            <a:ext cx="5303520" cy="1828800"/>
          </a:xfrm>
          <a:prstGeom prst="roundRect">
            <a:avLst>
              <a:gd name="adj" fmla="val 5000"/>
            </a:avLst>
          </a:prstGeom>
          <a:solidFill>
            <a:srgbClr val="F3F4F6"/>
          </a:solidFill>
          <a:ln/>
        </p:spPr>
      </p:sp>
      <p:sp>
        <p:nvSpPr>
          <p:cNvPr id="6" name="Text 4"/>
          <p:cNvSpPr/>
          <p:nvPr/>
        </p:nvSpPr>
        <p:spPr>
          <a:xfrm>
            <a:off x="822960" y="1828800"/>
            <a:ext cx="475488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Model 1: Default Parameters</a:t>
            </a:r>
            <a:endParaRPr lang="en-US" sz="1500" dirty="0"/>
          </a:p>
        </p:txBody>
      </p:sp>
      <p:sp>
        <p:nvSpPr>
          <p:cNvPr id="7" name="Text 5"/>
          <p:cNvSpPr/>
          <p:nvPr/>
        </p:nvSpPr>
        <p:spPr>
          <a:xfrm>
            <a:off x="822960" y="2286000"/>
            <a:ext cx="4754880" cy="731520"/>
          </a:xfrm>
          <a:prstGeom prst="rect">
            <a:avLst/>
          </a:prstGeom>
          <a:noFill/>
          <a:ln/>
        </p:spPr>
        <p:txBody>
          <a:bodyPr wrap="square" rtlCol="0" anchor="ctr"/>
          <a:lstStyle/>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XGBoost with all default settings.</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Top feature: P_2_latest (12.6% importance)</a:t>
            </a:r>
            <a:endParaRPr lang="en-US" sz="1200" dirty="0"/>
          </a:p>
        </p:txBody>
      </p:sp>
      <p:sp>
        <p:nvSpPr>
          <p:cNvPr id="8" name="Shape 6"/>
          <p:cNvSpPr/>
          <p:nvPr/>
        </p:nvSpPr>
        <p:spPr>
          <a:xfrm>
            <a:off x="6217920" y="1737360"/>
            <a:ext cx="5303520" cy="1828800"/>
          </a:xfrm>
          <a:prstGeom prst="roundRect">
            <a:avLst>
              <a:gd name="adj" fmla="val 5000"/>
            </a:avLst>
          </a:prstGeom>
          <a:solidFill>
            <a:srgbClr val="F3F4F6"/>
          </a:solidFill>
          <a:ln/>
        </p:spPr>
      </p:sp>
      <p:sp>
        <p:nvSpPr>
          <p:cNvPr id="9" name="Text 7"/>
          <p:cNvSpPr/>
          <p:nvPr/>
        </p:nvSpPr>
        <p:spPr>
          <a:xfrm>
            <a:off x="6492240" y="1828800"/>
            <a:ext cx="475488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Model 2: Custom Parameters</a:t>
            </a:r>
            <a:endParaRPr lang="en-US" sz="1500" dirty="0"/>
          </a:p>
        </p:txBody>
      </p:sp>
      <p:sp>
        <p:nvSpPr>
          <p:cNvPr id="10" name="Text 8"/>
          <p:cNvSpPr/>
          <p:nvPr/>
        </p:nvSpPr>
        <p:spPr>
          <a:xfrm>
            <a:off x="6492240" y="2286000"/>
            <a:ext cx="4754880" cy="731520"/>
          </a:xfrm>
          <a:prstGeom prst="rect">
            <a:avLst/>
          </a:prstGeom>
          <a:noFill/>
          <a:ln/>
        </p:spPr>
        <p:txBody>
          <a:bodyPr wrap="square" rtlCol="0" anchor="ctr"/>
          <a:lstStyle/>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300 trees, LR=0.5, depth=4, 50% subsample,</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50% features, 5x default weight.</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Top feature: P_2_latest (5.2% importance)</a:t>
            </a:r>
            <a:endParaRPr lang="en-US" sz="1200" dirty="0"/>
          </a:p>
        </p:txBody>
      </p:sp>
      <p:sp>
        <p:nvSpPr>
          <p:cNvPr id="11" name="Shape 9"/>
          <p:cNvSpPr/>
          <p:nvPr/>
        </p:nvSpPr>
        <p:spPr>
          <a:xfrm>
            <a:off x="5303520" y="3840480"/>
            <a:ext cx="1463040" cy="457200"/>
          </a:xfrm>
          <a:prstGeom prst="rect">
            <a:avLst/>
          </a:prstGeom>
          <a:solidFill>
            <a:srgbClr val="1E2761"/>
          </a:solidFill>
          <a:ln/>
        </p:spPr>
      </p:sp>
      <p:sp>
        <p:nvSpPr>
          <p:cNvPr id="12" name="Text 10"/>
          <p:cNvSpPr/>
          <p:nvPr/>
        </p:nvSpPr>
        <p:spPr>
          <a:xfrm>
            <a:off x="5303520" y="3840480"/>
            <a:ext cx="146304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1,520 → 17</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572000"/>
          <a:ext cx="10972800" cy="914400"/>
        </p:xfrm>
        <a:graphic>
          <a:graphicData uri="http://schemas.openxmlformats.org/drawingml/2006/table">
            <a:tbl>
              <a:tblPr/>
              <a:tblGrid>
                <a:gridCol w="8229600"/>
                <a:gridCol w="2743200"/>
              </a:tblGrid>
              <a:tr h="3200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Selected Features (17)</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2004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P_2_latest, P_2_min_6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Payment (2)</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B_1_latest, B_2_latest, B_4_max_12, B_9_latest, B_11_latest, B_23_latest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Balance (6)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R_1_mean_6, R_1_max_12, R_1_latest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Risk (3)</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D_39_max_6, D_42_mean_12, D_44_latest, D_44_mean_12, D_65_mean_6, D_112_latest</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100" dirty="0">
                          <a:solidFill>
                            <a:srgbClr val="000000"/>
                          </a:solidFill>
                          <a:latin typeface="Calibri" pitchFamily="34" charset="0"/>
                          <a:ea typeface="Calibri" pitchFamily="34" charset="-122"/>
                          <a:cs typeface="Calibri" pitchFamily="34" charset="-120"/>
                        </a:rPr>
                        <a:t>Delinquency (6)</a:t>
                      </a:r>
                      <a:endParaRPr lang="en-US" sz="11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XGBoost: Grid Search</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We systematically evaluated 72 model configurations (3 x 2 x 2 x 2 x 3) to find the optimal hyperparameters. Each model was saved incrementally to prevent data loss.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972800" cy="914400"/>
        </p:xfrm>
        <a:graphic>
          <a:graphicData uri="http://schemas.openxmlformats.org/drawingml/2006/table">
            <a:tbl>
              <a:tblPr/>
              <a:tblGrid>
                <a:gridCol w="2286000"/>
                <a:gridCol w="2286000"/>
                <a:gridCol w="640080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Values Tested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Rationale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Number of Trees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50, 100, 300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More trees improve accuracy but increase training time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0.01, 0.1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Lower LR = more conservative, needs more trees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Subsample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50%, 80%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Randomness reduces overfitting</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Feature %</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50%, 100%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Using fewer features adds diversity to trees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Default Weight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1, 5, 10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Compensates for class imbalance (25% default)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48640" y="4206240"/>
            <a:ext cx="10972800" cy="2194560"/>
          </a:xfrm>
          <a:prstGeom prst="roundRect">
            <a:avLst>
              <a:gd name="adj" fmla="val 4167"/>
            </a:avLst>
          </a:prstGeom>
          <a:solidFill>
            <a:srgbClr val="0D1B2A"/>
          </a:solidFill>
          <a:ln/>
        </p:spPr>
      </p:sp>
      <p:sp>
        <p:nvSpPr>
          <p:cNvPr id="7" name="Text 4"/>
          <p:cNvSpPr/>
          <p:nvPr/>
        </p:nvSpPr>
        <p:spPr>
          <a:xfrm>
            <a:off x="731520" y="4389120"/>
            <a:ext cx="10607040" cy="1828800"/>
          </a:xfrm>
          <a:prstGeom prst="rect">
            <a:avLst/>
          </a:prstGeom>
          <a:noFill/>
          <a:ln/>
        </p:spPr>
        <p:txBody>
          <a:bodyPr wrap="square" rtlCol="0" anchor="t"/>
          <a:lstStyle/>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for trees in [50, 100, 300]:</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lr in [0.01, 0.1]:</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subsample in [0.5, 0.8]:</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colsample in [0.5, 1.0]:</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weight in [1, 5, 10]:</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 = XGBClassifier(n_estimators=trees, learning_rate=lr, max_depth=4,</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subsample=subsample, colsample_bytree=colsample,</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scale_pos_weight=weight, random_state=42)</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model.fit(X_train, y_train)</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results_df.to_csv("xgb_grid_search.csv")  # Save after each model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XGBoost: Model Selection</a:t>
            </a:r>
            <a:endParaRPr lang="en-US" sz="36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72 models evaluated across all hyperparameter combinations</a:t>
            </a:r>
            <a:endParaRPr lang="en-US" sz="1600" dirty="0"/>
          </a:p>
        </p:txBody>
      </p:sp>
      <p:sp>
        <p:nvSpPr>
          <p:cNvPr id="4" name="Text 2"/>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p:nvPr/>
        </p:nvSpPr>
        <p:spPr>
          <a:xfrm>
            <a:off x="548640" y="1645920"/>
            <a:ext cx="5303520" cy="228600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Plot 1: Average AUC vs Standard Deviation</a:t>
            </a:r>
            <a:endParaRPr lang="en-US" sz="1300" dirty="0"/>
          </a:p>
          <a:p>
            <a:pPr indent="0" marL="0">
              <a:lnSpc>
                <a:spcPct val="130000"/>
              </a:lnSpc>
              <a:buNone/>
            </a:pPr>
            <a:endParaRPr lang="en-US" sz="1300" dirty="0"/>
          </a:p>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Best models appear in the bottom-right: high accuracy with low variance across train/test samples. Models with AUC ~0.946 and Std ~0.002 represent the optimal tradeoff.</a:t>
            </a:r>
            <a:endParaRPr lang="en-US" sz="1300" dirty="0"/>
          </a:p>
        </p:txBody>
      </p:sp>
      <p:sp>
        <p:nvSpPr>
          <p:cNvPr id="6" name="Text 4"/>
          <p:cNvSpPr/>
          <p:nvPr/>
        </p:nvSpPr>
        <p:spPr>
          <a:xfrm>
            <a:off x="6217920" y="1645920"/>
            <a:ext cx="5303520" cy="228600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Plot 2: Train AUC vs Test 2 AUC</a:t>
            </a:r>
            <a:endParaRPr lang="en-US" sz="1300" dirty="0"/>
          </a:p>
          <a:p>
            <a:pPr indent="0" marL="0">
              <a:lnSpc>
                <a:spcPct val="130000"/>
              </a:lnSpc>
              <a:buNone/>
            </a:pPr>
            <a:endParaRPr lang="en-US" sz="1300" dirty="0"/>
          </a:p>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Points close to the diagonal line indicate minimal overfitting. Our selected model (Train: 0.943, Test2: 0.940) sits very close to the line, confirming strong generalization.</a:t>
            </a:r>
            <a:endParaRPr lang="en-US" sz="1300" dirty="0"/>
          </a:p>
        </p:txBody>
      </p:sp>
      <p:sp>
        <p:nvSpPr>
          <p:cNvPr id="7" name="Text 5"/>
          <p:cNvSpPr/>
          <p:nvPr/>
        </p:nvSpPr>
        <p:spPr>
          <a:xfrm>
            <a:off x="548640" y="5029200"/>
            <a:ext cx="10972800" cy="45720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See attached scatter plots (xgb_scatter_plots.png). Best model selected: Trees=100, LR=0.01, Subsample=50%, Features=50%, Weight=5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XGBoost: Final Model</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4" name="Shape 2"/>
          <p:cNvSpPr/>
          <p:nvPr/>
        </p:nvSpPr>
        <p:spPr>
          <a:xfrm>
            <a:off x="548640" y="1188720"/>
            <a:ext cx="5029200" cy="2560320"/>
          </a:xfrm>
          <a:prstGeom prst="roundRect">
            <a:avLst>
              <a:gd name="adj" fmla="val 3571"/>
            </a:avLst>
          </a:prstGeom>
          <a:solidFill>
            <a:srgbClr val="F3F4F6"/>
          </a:solidFill>
          <a:ln/>
        </p:spPr>
      </p:sp>
      <p:sp>
        <p:nvSpPr>
          <p:cNvPr id="5" name="Text 3"/>
          <p:cNvSpPr/>
          <p:nvPr/>
        </p:nvSpPr>
        <p:spPr>
          <a:xfrm>
            <a:off x="822960" y="1280160"/>
            <a:ext cx="457200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Best Model Parameters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4389120" cy="914400"/>
        </p:xfrm>
        <a:graphic>
          <a:graphicData uri="http://schemas.openxmlformats.org/drawingml/2006/table">
            <a:tbl>
              <a:tblPr/>
              <a:tblGrid>
                <a:gridCol w="2560320"/>
                <a:gridCol w="182880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Number of Trees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Learning Rate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Max Depth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Subsample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Feature Sample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Default Weight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6217920" y="1188720"/>
            <a:ext cx="5303520" cy="2560320"/>
          </a:xfrm>
          <a:prstGeom prst="roundRect">
            <a:avLst>
              <a:gd name="adj" fmla="val 3571"/>
            </a:avLst>
          </a:prstGeom>
          <a:solidFill>
            <a:srgbClr val="F3F4F6"/>
          </a:solidFill>
          <a:ln/>
        </p:spPr>
      </p:sp>
      <p:sp>
        <p:nvSpPr>
          <p:cNvPr id="8" name="Text 5"/>
          <p:cNvSpPr/>
          <p:nvPr/>
        </p:nvSpPr>
        <p:spPr>
          <a:xfrm>
            <a:off x="6492240" y="1280160"/>
            <a:ext cx="475488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Model Performance (AUC)</a:t>
            </a:r>
            <a:endParaRPr lang="en-US" sz="1600" dirty="0"/>
          </a:p>
        </p:txBody>
      </p:sp>
      <p:sp>
        <p:nvSpPr>
          <p:cNvPr id="9" name="Text 6"/>
          <p:cNvSpPr/>
          <p:nvPr/>
        </p:nvSpPr>
        <p:spPr>
          <a:xfrm>
            <a:off x="667512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0.9431</a:t>
            </a:r>
            <a:endParaRPr lang="en-US" sz="2400" dirty="0"/>
          </a:p>
        </p:txBody>
      </p:sp>
      <p:sp>
        <p:nvSpPr>
          <p:cNvPr id="10" name="Text 7"/>
          <p:cNvSpPr/>
          <p:nvPr/>
        </p:nvSpPr>
        <p:spPr>
          <a:xfrm>
            <a:off x="667512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Train</a:t>
            </a:r>
            <a:endParaRPr lang="en-US" sz="1300" dirty="0"/>
          </a:p>
        </p:txBody>
      </p:sp>
      <p:sp>
        <p:nvSpPr>
          <p:cNvPr id="11" name="Text 8"/>
          <p:cNvSpPr/>
          <p:nvPr/>
        </p:nvSpPr>
        <p:spPr>
          <a:xfrm>
            <a:off x="822960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0.9413</a:t>
            </a:r>
            <a:endParaRPr lang="en-US" sz="2400" dirty="0"/>
          </a:p>
        </p:txBody>
      </p:sp>
      <p:sp>
        <p:nvSpPr>
          <p:cNvPr id="12" name="Text 9"/>
          <p:cNvSpPr/>
          <p:nvPr/>
        </p:nvSpPr>
        <p:spPr>
          <a:xfrm>
            <a:off x="822960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Test 1</a:t>
            </a:r>
            <a:endParaRPr lang="en-US" sz="1300" dirty="0"/>
          </a:p>
        </p:txBody>
      </p:sp>
      <p:sp>
        <p:nvSpPr>
          <p:cNvPr id="13" name="Text 10"/>
          <p:cNvSpPr/>
          <p:nvPr/>
        </p:nvSpPr>
        <p:spPr>
          <a:xfrm>
            <a:off x="978408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0.9402</a:t>
            </a:r>
            <a:endParaRPr lang="en-US" sz="2400" dirty="0"/>
          </a:p>
        </p:txBody>
      </p:sp>
      <p:sp>
        <p:nvSpPr>
          <p:cNvPr id="14" name="Text 11"/>
          <p:cNvSpPr/>
          <p:nvPr/>
        </p:nvSpPr>
        <p:spPr>
          <a:xfrm>
            <a:off x="978408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Test 2</a:t>
            </a:r>
            <a:endParaRPr lang="en-US" sz="1300" dirty="0"/>
          </a:p>
        </p:txBody>
      </p:sp>
      <p:sp>
        <p:nvSpPr>
          <p:cNvPr id="15" name="Text 12"/>
          <p:cNvSpPr/>
          <p:nvPr/>
        </p:nvSpPr>
        <p:spPr>
          <a:xfrm>
            <a:off x="6492240" y="3108960"/>
            <a:ext cx="4754880" cy="457200"/>
          </a:xfrm>
          <a:prstGeom prst="rect">
            <a:avLst/>
          </a:prstGeom>
          <a:noFill/>
          <a:ln/>
        </p:spPr>
        <p:txBody>
          <a:bodyPr wrap="square" rtlCol="0" anchor="ctr"/>
          <a:lstStyle/>
          <a:p>
            <a:pPr indent="0" marL="0">
              <a:buNone/>
            </a:pPr>
            <a:r>
              <a:rPr lang="en-US" sz="1100" dirty="0">
                <a:solidFill>
                  <a:srgbClr val="0D1B2A"/>
                </a:solidFill>
                <a:latin typeface="Calibri" pitchFamily="34" charset="0"/>
                <a:ea typeface="Calibri" pitchFamily="34" charset="-122"/>
                <a:cs typeface="Calibri" pitchFamily="34" charset="-120"/>
              </a:rPr>
              <a:t>Minimal variance (0.0015 std) across samples confirms the model generalizes well to unseen data.</a:t>
            </a:r>
            <a:endParaRPr lang="en-US" sz="1100" dirty="0"/>
          </a:p>
        </p:txBody>
      </p:sp>
      <p:sp>
        <p:nvSpPr>
          <p:cNvPr id="16" name="Text 13"/>
          <p:cNvSpPr/>
          <p:nvPr/>
        </p:nvSpPr>
        <p:spPr>
          <a:xfrm>
            <a:off x="548640" y="4114800"/>
            <a:ext cx="10972800" cy="54864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Rank Ordering: The bar chart below shows default rates by score quartile across all three samples. Q1 (safest) defaults at ~0%, while Q4 (riskiest) defaults at ~78%, proving the model effectively separates good from bad customers.</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1828800" y="4846320"/>
          <a:ext cx="8503920" cy="914400"/>
        </p:xfrm>
        <a:graphic>
          <a:graphicData uri="http://schemas.openxmlformats.org/drawingml/2006/table">
            <a:tbl>
              <a:tblPr/>
              <a:tblGrid>
                <a:gridCol w="2286000"/>
                <a:gridCol w="2103120"/>
                <a:gridCol w="2103120"/>
                <a:gridCol w="2011680"/>
              </a:tblGrid>
              <a:tr h="32004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Score Bin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Train DR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1 DR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Test 2 DR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Q1 (Low Risk)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Q2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Q3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Q4 (High Risk)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XGBoost: SHAP Analysis (Beeswarm)</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SHAP (SHapley Additive exPlanations) values show how each feature contributes to the model's predictions. Based on Test 2 sample:</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972800" cy="914400"/>
        </p:xfrm>
        <a:graphic>
          <a:graphicData uri="http://schemas.openxmlformats.org/drawingml/2006/table">
            <a:tbl>
              <a:tblPr/>
              <a:tblGrid>
                <a:gridCol w="731520"/>
                <a:gridCol w="1828800"/>
                <a:gridCol w="1097280"/>
                <a:gridCol w="731520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Rank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Interpretation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45720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P_2_latest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Highest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Recent payment behavior is the strongest predictor. Higher values reduce default risk.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5720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P_2_min_6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Minimum payment over 6 months. Low minimums signal trouble.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5720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B_1_latest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Current balance. Higher balance increases default risk.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5720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B_2_latest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Secondary balance metric correlated with risk.</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5720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D_44_latest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Delinquency indicator. Higher values signal default.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548640" y="4572000"/>
            <a:ext cx="10972800" cy="73152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See attached beeswarm plot. Red (high feature values) on the right push predictions toward default. Blue (low values) on the left push toward safety. Payment features (P_2) dominate, followed by balance (B_) and delinquency (D_) features.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XGBoost: SHAP Analysis (Waterfall)</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Waterfall plot for a single customer in Test 2, showing how the model arrived at its prediction:</a:t>
            </a:r>
            <a:endParaRPr lang="en-US" sz="1300" dirty="0"/>
          </a:p>
        </p:txBody>
      </p:sp>
      <p:sp>
        <p:nvSpPr>
          <p:cNvPr id="5" name="Shape 3"/>
          <p:cNvSpPr/>
          <p:nvPr/>
        </p:nvSpPr>
        <p:spPr>
          <a:xfrm>
            <a:off x="548640" y="1737360"/>
            <a:ext cx="10972800" cy="4114800"/>
          </a:xfrm>
          <a:prstGeom prst="roundRect">
            <a:avLst>
              <a:gd name="adj" fmla="val 2222"/>
            </a:avLst>
          </a:prstGeom>
          <a:solidFill>
            <a:srgbClr val="F3F4F6"/>
          </a:solidFill>
          <a:ln/>
        </p:spPr>
      </p:sp>
      <p:sp>
        <p:nvSpPr>
          <p:cNvPr id="6" name="Text 4"/>
          <p:cNvSpPr/>
          <p:nvPr/>
        </p:nvSpPr>
        <p:spPr>
          <a:xfrm>
            <a:off x="822960" y="1828800"/>
            <a:ext cx="10424160" cy="3840480"/>
          </a:xfrm>
          <a:prstGeom prst="rect">
            <a:avLst/>
          </a:prstGeom>
          <a:noFill/>
          <a:ln/>
        </p:spPr>
        <p:txBody>
          <a:bodyPr wrap="square" rtlCol="0" anchor="t"/>
          <a:lstStyle/>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Baseline prediction: E[f(X)] = 0.542 (average default probability)</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Final prediction: f(x) = 0.129 (12.9% probability of default)</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Key drivers pushing score DOWN (toward safe):</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B_1_latest = 0.003 → contributed -0.29 (very low balance = safe)</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B_2_latest = 1.009 → contributed -0.13</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B_11_latest = 0.008 → contributed -0.08</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Key drivers pushing score UP (toward risky):</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D_44_mean_12 = 0.068 → contributed +0.08</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P_2_min_6 = 0.542 → contributed +0.07</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   B_23_latest = 0.347 → contributed +0.06</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Conclusion: This customer's extremely low balance (B_1 = 0.003) is the dominant factor, reducing their predicted default probability from 54.2% to 12.9%. To improve their score further, reducing delinquency (D_44) would help.</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Neural Network: Data Processing</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4" name="Text 2"/>
          <p:cNvSpPr/>
          <p:nvPr/>
        </p:nvSpPr>
        <p:spPr>
          <a:xfrm>
            <a:off x="548640" y="1097280"/>
            <a:ext cx="10972800" cy="365760"/>
          </a:xfrm>
          <a:prstGeom prst="rect">
            <a:avLst/>
          </a:prstGeom>
          <a:noFill/>
          <a:ln/>
        </p:spPr>
        <p:txBody>
          <a:bodyPr wrap="square" rtlCol="0" anchor="ctr"/>
          <a:lstStyle/>
          <a:p>
            <a:pPr indent="0" marL="0">
              <a:buNone/>
            </a:pPr>
            <a:r>
              <a:rPr lang="en-US" sz="1400" dirty="0">
                <a:solidFill>
                  <a:srgbClr val="0D1B2A"/>
                </a:solidFill>
                <a:latin typeface="Calibri" pitchFamily="34" charset="0"/>
                <a:ea typeface="Calibri" pitchFamily="34" charset="-122"/>
                <a:cs typeface="Calibri" pitchFamily="34" charset="-120"/>
              </a:rPr>
              <a:t>Neural networks require additional preprocessing that XGBoost does not:</a:t>
            </a:r>
            <a:endParaRPr lang="en-US" sz="1400" dirty="0"/>
          </a:p>
        </p:txBody>
      </p:sp>
      <p:sp>
        <p:nvSpPr>
          <p:cNvPr id="5" name="Shape 3"/>
          <p:cNvSpPr/>
          <p:nvPr/>
        </p:nvSpPr>
        <p:spPr>
          <a:xfrm>
            <a:off x="548640" y="1645920"/>
            <a:ext cx="5486400" cy="1371600"/>
          </a:xfrm>
          <a:prstGeom prst="roundRect">
            <a:avLst>
              <a:gd name="adj" fmla="val 6667"/>
            </a:avLst>
          </a:prstGeom>
          <a:solidFill>
            <a:srgbClr val="F3F4F6"/>
          </a:solidFill>
          <a:ln/>
        </p:spPr>
      </p:sp>
      <p:sp>
        <p:nvSpPr>
          <p:cNvPr id="6" name="Text 4"/>
          <p:cNvSpPr/>
          <p:nvPr/>
        </p:nvSpPr>
        <p:spPr>
          <a:xfrm>
            <a:off x="822960" y="1691640"/>
            <a:ext cx="49377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1. Outlier Treatment</a:t>
            </a:r>
            <a:endParaRPr lang="en-US" sz="1400" dirty="0"/>
          </a:p>
        </p:txBody>
      </p:sp>
      <p:sp>
        <p:nvSpPr>
          <p:cNvPr id="7" name="Text 5"/>
          <p:cNvSpPr/>
          <p:nvPr/>
        </p:nvSpPr>
        <p:spPr>
          <a:xfrm>
            <a:off x="822960" y="2057400"/>
            <a:ext cx="4937760" cy="822960"/>
          </a:xfrm>
          <a:prstGeom prst="rect">
            <a:avLst/>
          </a:prstGeom>
          <a:noFill/>
          <a:ln/>
        </p:spPr>
        <p:txBody>
          <a:bodyPr wrap="square" rtlCol="0" anchor="ctr"/>
          <a:lstStyle/>
          <a:p>
            <a:pPr indent="0" marL="0">
              <a:lnSpc>
                <a:spcPct val="120000"/>
              </a:lnSpc>
              <a:buNone/>
            </a:pPr>
            <a:r>
              <a:rPr lang="en-US" sz="1100" dirty="0">
                <a:solidFill>
                  <a:srgbClr val="0D1B2A"/>
                </a:solidFill>
                <a:latin typeface="Calibri" pitchFamily="34" charset="0"/>
                <a:ea typeface="Calibri" pitchFamily="34" charset="-122"/>
                <a:cs typeface="Calibri" pitchFamily="34" charset="-120"/>
              </a:rPr>
              <a:t>Cap values at 1st and 99th percentiles. Extreme values confuse neural networks by producing disproportionately large activations.</a:t>
            </a:r>
            <a:endParaRPr lang="en-US" sz="1100" dirty="0"/>
          </a:p>
        </p:txBody>
      </p:sp>
      <p:sp>
        <p:nvSpPr>
          <p:cNvPr id="8" name="Shape 6"/>
          <p:cNvSpPr/>
          <p:nvPr/>
        </p:nvSpPr>
        <p:spPr>
          <a:xfrm>
            <a:off x="6400800" y="1645920"/>
            <a:ext cx="5120640" cy="1371600"/>
          </a:xfrm>
          <a:prstGeom prst="roundRect">
            <a:avLst>
              <a:gd name="adj" fmla="val 6667"/>
            </a:avLst>
          </a:prstGeom>
          <a:solidFill>
            <a:srgbClr val="0D1B2A"/>
          </a:solidFill>
          <a:ln/>
        </p:spPr>
      </p:sp>
      <p:sp>
        <p:nvSpPr>
          <p:cNvPr id="9" name="Text 7"/>
          <p:cNvSpPr/>
          <p:nvPr/>
        </p:nvSpPr>
        <p:spPr>
          <a:xfrm>
            <a:off x="6583680" y="1783080"/>
            <a:ext cx="4754880" cy="1097280"/>
          </a:xfrm>
          <a:prstGeom prst="rect">
            <a:avLst/>
          </a:prstGeom>
          <a:noFill/>
          <a:ln/>
        </p:spPr>
        <p:txBody>
          <a:bodyPr wrap="square" rtlCol="0" anchor="t"/>
          <a:lstStyle/>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Q1 = X_train.quantile(0.01)</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Q99 = X_train.quantile(0.99)</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X_train = X_train.clip(Q1, Q99)</a:t>
            </a:r>
            <a:endParaRPr lang="en-US" sz="1000" dirty="0"/>
          </a:p>
        </p:txBody>
      </p:sp>
      <p:sp>
        <p:nvSpPr>
          <p:cNvPr id="10" name="Shape 8"/>
          <p:cNvSpPr/>
          <p:nvPr/>
        </p:nvSpPr>
        <p:spPr>
          <a:xfrm>
            <a:off x="548640" y="3291840"/>
            <a:ext cx="5486400" cy="1371600"/>
          </a:xfrm>
          <a:prstGeom prst="roundRect">
            <a:avLst>
              <a:gd name="adj" fmla="val 6667"/>
            </a:avLst>
          </a:prstGeom>
          <a:solidFill>
            <a:srgbClr val="F3F4F6"/>
          </a:solidFill>
          <a:ln/>
        </p:spPr>
      </p:sp>
      <p:sp>
        <p:nvSpPr>
          <p:cNvPr id="11" name="Text 9"/>
          <p:cNvSpPr/>
          <p:nvPr/>
        </p:nvSpPr>
        <p:spPr>
          <a:xfrm>
            <a:off x="822960" y="3337560"/>
            <a:ext cx="49377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 Normalization</a:t>
            </a:r>
            <a:endParaRPr lang="en-US" sz="1400" dirty="0"/>
          </a:p>
        </p:txBody>
      </p:sp>
      <p:sp>
        <p:nvSpPr>
          <p:cNvPr id="12" name="Text 10"/>
          <p:cNvSpPr/>
          <p:nvPr/>
        </p:nvSpPr>
        <p:spPr>
          <a:xfrm>
            <a:off x="822960" y="3703320"/>
            <a:ext cx="4937760" cy="822960"/>
          </a:xfrm>
          <a:prstGeom prst="rect">
            <a:avLst/>
          </a:prstGeom>
          <a:noFill/>
          <a:ln/>
        </p:spPr>
        <p:txBody>
          <a:bodyPr wrap="square" rtlCol="0" anchor="ctr"/>
          <a:lstStyle/>
          <a:p>
            <a:pPr indent="0" marL="0">
              <a:lnSpc>
                <a:spcPct val="120000"/>
              </a:lnSpc>
              <a:buNone/>
            </a:pPr>
            <a:r>
              <a:rPr lang="en-US" sz="1100" dirty="0">
                <a:solidFill>
                  <a:srgbClr val="0D1B2A"/>
                </a:solidFill>
                <a:latin typeface="Calibri" pitchFamily="34" charset="0"/>
                <a:ea typeface="Calibri" pitchFamily="34" charset="-122"/>
                <a:cs typeface="Calibri" pitchFamily="34" charset="-120"/>
              </a:rPr>
              <a:t>StandardScaler transforms each feature to mean=0, std=1. This ensures all features are on the same scale.</a:t>
            </a:r>
            <a:endParaRPr lang="en-US" sz="1100" dirty="0"/>
          </a:p>
        </p:txBody>
      </p:sp>
      <p:sp>
        <p:nvSpPr>
          <p:cNvPr id="13" name="Shape 11"/>
          <p:cNvSpPr/>
          <p:nvPr/>
        </p:nvSpPr>
        <p:spPr>
          <a:xfrm>
            <a:off x="6400800" y="3291840"/>
            <a:ext cx="5120640" cy="1371600"/>
          </a:xfrm>
          <a:prstGeom prst="roundRect">
            <a:avLst>
              <a:gd name="adj" fmla="val 6667"/>
            </a:avLst>
          </a:prstGeom>
          <a:solidFill>
            <a:srgbClr val="0D1B2A"/>
          </a:solidFill>
          <a:ln/>
        </p:spPr>
      </p:sp>
      <p:sp>
        <p:nvSpPr>
          <p:cNvPr id="14" name="Text 12"/>
          <p:cNvSpPr/>
          <p:nvPr/>
        </p:nvSpPr>
        <p:spPr>
          <a:xfrm>
            <a:off x="6583680" y="3429000"/>
            <a:ext cx="4754880" cy="1097280"/>
          </a:xfrm>
          <a:prstGeom prst="rect">
            <a:avLst/>
          </a:prstGeom>
          <a:noFill/>
          <a:ln/>
        </p:spPr>
        <p:txBody>
          <a:bodyPr wrap="square" rtlCol="0" anchor="t"/>
          <a:lstStyle/>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scaler = StandardScaler()</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X_train = scaler.fit_transform(X_train)</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X_test = scaler.transform(X_test)</a:t>
            </a:r>
            <a:endParaRPr lang="en-US" sz="1000" dirty="0"/>
          </a:p>
        </p:txBody>
      </p:sp>
      <p:sp>
        <p:nvSpPr>
          <p:cNvPr id="15" name="Shape 13"/>
          <p:cNvSpPr/>
          <p:nvPr/>
        </p:nvSpPr>
        <p:spPr>
          <a:xfrm>
            <a:off x="548640" y="4937760"/>
            <a:ext cx="5486400" cy="1371600"/>
          </a:xfrm>
          <a:prstGeom prst="roundRect">
            <a:avLst>
              <a:gd name="adj" fmla="val 6667"/>
            </a:avLst>
          </a:prstGeom>
          <a:solidFill>
            <a:srgbClr val="F3F4F6"/>
          </a:solidFill>
          <a:ln/>
        </p:spPr>
      </p:sp>
      <p:sp>
        <p:nvSpPr>
          <p:cNvPr id="16" name="Text 14"/>
          <p:cNvSpPr/>
          <p:nvPr/>
        </p:nvSpPr>
        <p:spPr>
          <a:xfrm>
            <a:off x="822960" y="4983480"/>
            <a:ext cx="493776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3. Missing Values</a:t>
            </a:r>
            <a:endParaRPr lang="en-US" sz="1400" dirty="0"/>
          </a:p>
        </p:txBody>
      </p:sp>
      <p:sp>
        <p:nvSpPr>
          <p:cNvPr id="17" name="Text 15"/>
          <p:cNvSpPr/>
          <p:nvPr/>
        </p:nvSpPr>
        <p:spPr>
          <a:xfrm>
            <a:off x="822960" y="5349240"/>
            <a:ext cx="4937760" cy="822960"/>
          </a:xfrm>
          <a:prstGeom prst="rect">
            <a:avLst/>
          </a:prstGeom>
          <a:noFill/>
          <a:ln/>
        </p:spPr>
        <p:txBody>
          <a:bodyPr wrap="square" rtlCol="0" anchor="ctr"/>
          <a:lstStyle/>
          <a:p>
            <a:pPr indent="0" marL="0">
              <a:lnSpc>
                <a:spcPct val="120000"/>
              </a:lnSpc>
              <a:buNone/>
            </a:pPr>
            <a:r>
              <a:rPr lang="en-US" sz="1100" dirty="0">
                <a:solidFill>
                  <a:srgbClr val="0D1B2A"/>
                </a:solidFill>
                <a:latin typeface="Calibri" pitchFamily="34" charset="0"/>
                <a:ea typeface="Calibri" pitchFamily="34" charset="-122"/>
                <a:cs typeface="Calibri" pitchFamily="34" charset="-120"/>
              </a:rPr>
              <a:t>Replace NaN with 0. After standardization, 0 represents the mean value, so missing values are treated as average.</a:t>
            </a:r>
            <a:endParaRPr lang="en-US" sz="1100" dirty="0"/>
          </a:p>
        </p:txBody>
      </p:sp>
      <p:sp>
        <p:nvSpPr>
          <p:cNvPr id="18" name="Shape 16"/>
          <p:cNvSpPr/>
          <p:nvPr/>
        </p:nvSpPr>
        <p:spPr>
          <a:xfrm>
            <a:off x="6400800" y="4937760"/>
            <a:ext cx="5120640" cy="1371600"/>
          </a:xfrm>
          <a:prstGeom prst="roundRect">
            <a:avLst>
              <a:gd name="adj" fmla="val 6667"/>
            </a:avLst>
          </a:prstGeom>
          <a:solidFill>
            <a:srgbClr val="0D1B2A"/>
          </a:solidFill>
          <a:ln/>
        </p:spPr>
      </p:sp>
      <p:sp>
        <p:nvSpPr>
          <p:cNvPr id="19" name="Text 17"/>
          <p:cNvSpPr/>
          <p:nvPr/>
        </p:nvSpPr>
        <p:spPr>
          <a:xfrm>
            <a:off x="6583680" y="5074920"/>
            <a:ext cx="4754880" cy="1097280"/>
          </a:xfrm>
          <a:prstGeom prst="rect">
            <a:avLst/>
          </a:prstGeom>
          <a:noFill/>
          <a:ln/>
        </p:spPr>
        <p:txBody>
          <a:bodyPr wrap="square" rtlCol="0" anchor="t"/>
          <a:lstStyle/>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X_train.fillna(0, inplace=True)</a:t>
            </a:r>
            <a:endParaRPr lang="en-US" sz="1000" dirty="0"/>
          </a:p>
          <a:p>
            <a:pPr indent="0" marL="0">
              <a:lnSpc>
                <a:spcPct val="130000"/>
              </a:lnSpc>
              <a:buNone/>
            </a:pPr>
            <a:r>
              <a:rPr lang="en-US" sz="1000" dirty="0">
                <a:solidFill>
                  <a:srgbClr val="CADCFC"/>
                </a:solidFill>
                <a:latin typeface="Courier New" pitchFamily="34" charset="0"/>
                <a:ea typeface="Courier New" pitchFamily="34" charset="-122"/>
                <a:cs typeface="Courier New" pitchFamily="34" charset="-120"/>
              </a:rPr>
              <a:t>X_test.fillna(0, inplace=True)</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Neural Network: Grid Search</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4" name="Text 2"/>
          <p:cNvSpPr/>
          <p:nvPr/>
        </p:nvSpPr>
        <p:spPr>
          <a:xfrm>
            <a:off x="548640" y="1097280"/>
            <a:ext cx="10972800" cy="45720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We evaluated 32 neural network architectures (2 x 2 x 2 x 2 x 2) using Adam optimizer, binary cross-entropy loss, and 20 epochs.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0972800" cy="914400"/>
        </p:xfrm>
        <a:graphic>
          <a:graphicData uri="http://schemas.openxmlformats.org/drawingml/2006/table">
            <a:tbl>
              <a:tblPr/>
              <a:tblGrid>
                <a:gridCol w="2286000"/>
                <a:gridCol w="2286000"/>
                <a:gridCol w="640080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Values Tested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Rationale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Hidden Layers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2, 4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Deeper networks can capture complex patterns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Nodes per Layer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4, 6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More nodes increase model capacity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Activation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ReLU, Tanh</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ReLU trains faster; Tanh works for normalized data</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Dropout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50%, None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Dropout prevents overfitting by randomly disabling nodes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100, 10,000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l" indent="0" marL="0">
                        <a:buNone/>
                      </a:pPr>
                      <a:r>
                        <a:rPr lang="en-US" sz="1200" dirty="0">
                          <a:solidFill>
                            <a:srgbClr val="000000"/>
                          </a:solidFill>
                          <a:latin typeface="Calibri" pitchFamily="34" charset="0"/>
                          <a:ea typeface="Calibri" pitchFamily="34" charset="-122"/>
                          <a:cs typeface="Calibri" pitchFamily="34" charset="-120"/>
                        </a:rPr>
                        <a:t>Smaller batches = noisier but better generalization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6" name="Shape 3"/>
          <p:cNvSpPr/>
          <p:nvPr/>
        </p:nvSpPr>
        <p:spPr>
          <a:xfrm>
            <a:off x="548640" y="4389120"/>
            <a:ext cx="10972800" cy="2011680"/>
          </a:xfrm>
          <a:prstGeom prst="roundRect">
            <a:avLst>
              <a:gd name="adj" fmla="val 4545"/>
            </a:avLst>
          </a:prstGeom>
          <a:solidFill>
            <a:srgbClr val="0D1B2A"/>
          </a:solidFill>
          <a:ln/>
        </p:spPr>
      </p:sp>
      <p:sp>
        <p:nvSpPr>
          <p:cNvPr id="7" name="Text 4"/>
          <p:cNvSpPr/>
          <p:nvPr/>
        </p:nvSpPr>
        <p:spPr>
          <a:xfrm>
            <a:off x="731520" y="4572000"/>
            <a:ext cx="10607040" cy="1645920"/>
          </a:xfrm>
          <a:prstGeom prst="rect">
            <a:avLst/>
          </a:prstGeom>
          <a:noFill/>
          <a:ln/>
        </p:spPr>
        <p:txBody>
          <a:bodyPr wrap="square" rtlCol="0" anchor="t"/>
          <a:lstStyle/>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for hl in [2, 4]:</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nodes in [4, 6]:</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activation in ["relu", "tanh"]:</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dropout in [0.5, 0.0]:</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for batch_size in [100, 10000]:</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 = Sequential()</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model.add(Dense(nodes, activation=activation))</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model.compile(optimizer="adam", loss="binary_crossentropy")</a:t>
            </a:r>
            <a:endParaRPr lang="en-US" sz="1000" dirty="0"/>
          </a:p>
          <a:p>
            <a:pPr indent="0" marL="0">
              <a:lnSpc>
                <a:spcPct val="120000"/>
              </a:lnSpc>
              <a:buNone/>
            </a:pPr>
            <a:r>
              <a:rPr lang="en-US" sz="1000" dirty="0">
                <a:solidFill>
                  <a:srgbClr val="CADCFC"/>
                </a:solidFill>
                <a:latin typeface="Courier New" pitchFamily="34" charset="0"/>
                <a:ea typeface="Courier New" pitchFamily="34" charset="-122"/>
                <a:cs typeface="Courier New" pitchFamily="34" charset="-120"/>
              </a:rPr>
              <a:t>                    model.fit(X_train, y_train, batch_size=batch_size, epochs=20)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Neural Network: Model Selection</a:t>
            </a:r>
            <a:endParaRPr lang="en-US" sz="3600" dirty="0"/>
          </a:p>
        </p:txBody>
      </p:sp>
      <p:sp>
        <p:nvSpPr>
          <p:cNvPr id="3" name="Text 1"/>
          <p:cNvSpPr/>
          <p:nvPr/>
        </p:nvSpPr>
        <p:spPr>
          <a:xfrm>
            <a:off x="548640" y="1005840"/>
            <a:ext cx="10972800" cy="457200"/>
          </a:xfrm>
          <a:prstGeom prst="rect">
            <a:avLst/>
          </a:prstGeom>
          <a:noFill/>
          <a:ln/>
        </p:spPr>
        <p:txBody>
          <a:bodyPr wrap="square" rtlCol="0" anchor="ctr"/>
          <a:lstStyle/>
          <a:p>
            <a:pPr indent="0" marL="0">
              <a:buNone/>
            </a:pPr>
            <a:r>
              <a:rPr lang="en-US" sz="1600" dirty="0">
                <a:solidFill>
                  <a:srgbClr val="6B7280"/>
                </a:solidFill>
                <a:latin typeface="Calibri" pitchFamily="34" charset="0"/>
                <a:ea typeface="Calibri" pitchFamily="34" charset="-122"/>
                <a:cs typeface="Calibri" pitchFamily="34" charset="-120"/>
              </a:rPr>
              <a:t>32 models evaluated across all architecture combinations</a:t>
            </a:r>
            <a:endParaRPr lang="en-US" sz="1600" dirty="0"/>
          </a:p>
        </p:txBody>
      </p:sp>
      <p:sp>
        <p:nvSpPr>
          <p:cNvPr id="4" name="Text 2"/>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p:nvPr/>
        </p:nvSpPr>
        <p:spPr>
          <a:xfrm>
            <a:off x="548640" y="1645920"/>
            <a:ext cx="5303520" cy="228600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Plot 1: Average AUC vs Standard Deviation</a:t>
            </a:r>
            <a:endParaRPr lang="en-US" sz="1300" dirty="0"/>
          </a:p>
          <a:p>
            <a:pPr indent="0" marL="0">
              <a:lnSpc>
                <a:spcPct val="130000"/>
              </a:lnSpc>
              <a:buNone/>
            </a:pPr>
            <a:endParaRPr lang="en-US" sz="1300" dirty="0"/>
          </a:p>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Best NN models cluster in the bottom-right with AUC 0.93-0.95 and low variance. Some architectures (high dropout + large batch) performed poorly at AUC 0.77-0.85.</a:t>
            </a:r>
            <a:endParaRPr lang="en-US" sz="1300" dirty="0"/>
          </a:p>
        </p:txBody>
      </p:sp>
      <p:sp>
        <p:nvSpPr>
          <p:cNvPr id="6" name="Text 4"/>
          <p:cNvSpPr/>
          <p:nvPr/>
        </p:nvSpPr>
        <p:spPr>
          <a:xfrm>
            <a:off x="6217920" y="1645920"/>
            <a:ext cx="5303520" cy="2286000"/>
          </a:xfrm>
          <a:prstGeom prst="rect">
            <a:avLst/>
          </a:prstGeom>
          <a:noFill/>
          <a:ln/>
        </p:spPr>
        <p:txBody>
          <a:bodyPr wrap="square" rtlCol="0" anchor="ctr"/>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Plot 2: Train AUC vs Test 2 AUC</a:t>
            </a:r>
            <a:endParaRPr lang="en-US" sz="1300" dirty="0"/>
          </a:p>
          <a:p>
            <a:pPr indent="0" marL="0">
              <a:lnSpc>
                <a:spcPct val="130000"/>
              </a:lnSpc>
              <a:buNone/>
            </a:pPr>
            <a:endParaRPr lang="en-US" sz="1300" dirty="0"/>
          </a:p>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Most NN models sit right on the diagonal line, indicating minimal overfitting. The neural network generalizes well despite its complexity.</a:t>
            </a:r>
            <a:endParaRPr lang="en-US" sz="1300" dirty="0"/>
          </a:p>
        </p:txBody>
      </p:sp>
      <p:sp>
        <p:nvSpPr>
          <p:cNvPr id="7" name="Text 5"/>
          <p:cNvSpPr/>
          <p:nvPr/>
        </p:nvSpPr>
        <p:spPr>
          <a:xfrm>
            <a:off x="548640" y="5029200"/>
            <a:ext cx="10972800" cy="45720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See attached scatter plots (nn_scatter_plots.png). Best model: 4 Hidden Layers, 6 Nodes, ReLU, 50% Dropout, Batch Size 100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Neural Network: Final Model</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4" name="Shape 2"/>
          <p:cNvSpPr/>
          <p:nvPr/>
        </p:nvSpPr>
        <p:spPr>
          <a:xfrm>
            <a:off x="548640" y="1188720"/>
            <a:ext cx="5029200" cy="2560320"/>
          </a:xfrm>
          <a:prstGeom prst="roundRect">
            <a:avLst>
              <a:gd name="adj" fmla="val 3571"/>
            </a:avLst>
          </a:prstGeom>
          <a:solidFill>
            <a:srgbClr val="F3F4F6"/>
          </a:solidFill>
          <a:ln/>
        </p:spPr>
      </p:sp>
      <p:sp>
        <p:nvSpPr>
          <p:cNvPr id="5" name="Text 3"/>
          <p:cNvSpPr/>
          <p:nvPr/>
        </p:nvSpPr>
        <p:spPr>
          <a:xfrm>
            <a:off x="822960" y="1280160"/>
            <a:ext cx="457200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Best NN Architecture</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4389120" cy="914400"/>
        </p:xfrm>
        <a:graphic>
          <a:graphicData uri="http://schemas.openxmlformats.org/drawingml/2006/table">
            <a:tbl>
              <a:tblPr/>
              <a:tblGrid>
                <a:gridCol w="2560320"/>
                <a:gridCol w="182880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Hidden Layers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Nodes per Layer</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Activation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ReLU</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Dropout</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256032">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Epochs</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7" name="Shape 4"/>
          <p:cNvSpPr/>
          <p:nvPr/>
        </p:nvSpPr>
        <p:spPr>
          <a:xfrm>
            <a:off x="6217920" y="1188720"/>
            <a:ext cx="5303520" cy="2560320"/>
          </a:xfrm>
          <a:prstGeom prst="roundRect">
            <a:avLst>
              <a:gd name="adj" fmla="val 3571"/>
            </a:avLst>
          </a:prstGeom>
          <a:solidFill>
            <a:srgbClr val="F3F4F6"/>
          </a:solidFill>
          <a:ln/>
        </p:spPr>
      </p:sp>
      <p:sp>
        <p:nvSpPr>
          <p:cNvPr id="8" name="Text 5"/>
          <p:cNvSpPr/>
          <p:nvPr/>
        </p:nvSpPr>
        <p:spPr>
          <a:xfrm>
            <a:off x="6492240" y="1280160"/>
            <a:ext cx="4754880" cy="457200"/>
          </a:xfrm>
          <a:prstGeom prst="rect">
            <a:avLst/>
          </a:prstGeom>
          <a:noFill/>
          <a:ln/>
        </p:spPr>
        <p:txBody>
          <a:bodyPr wrap="square" rtlCol="0" anchor="ctr"/>
          <a:lstStyle/>
          <a:p>
            <a:pPr indent="0" marL="0">
              <a:buNone/>
            </a:pPr>
            <a:r>
              <a:rPr lang="en-US" sz="1600" b="1" dirty="0">
                <a:solidFill>
                  <a:srgbClr val="1E2761"/>
                </a:solidFill>
                <a:latin typeface="Calibri" pitchFamily="34" charset="0"/>
                <a:ea typeface="Calibri" pitchFamily="34" charset="-122"/>
                <a:cs typeface="Calibri" pitchFamily="34" charset="-120"/>
              </a:rPr>
              <a:t>Model Performance (AUC)</a:t>
            </a:r>
            <a:endParaRPr lang="en-US" sz="1600" dirty="0"/>
          </a:p>
        </p:txBody>
      </p:sp>
      <p:sp>
        <p:nvSpPr>
          <p:cNvPr id="9" name="Text 6"/>
          <p:cNvSpPr/>
          <p:nvPr/>
        </p:nvSpPr>
        <p:spPr>
          <a:xfrm>
            <a:off x="667512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0.9301</a:t>
            </a:r>
            <a:endParaRPr lang="en-US" sz="2400" dirty="0"/>
          </a:p>
        </p:txBody>
      </p:sp>
      <p:sp>
        <p:nvSpPr>
          <p:cNvPr id="10" name="Text 7"/>
          <p:cNvSpPr/>
          <p:nvPr/>
        </p:nvSpPr>
        <p:spPr>
          <a:xfrm>
            <a:off x="667512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Train</a:t>
            </a:r>
            <a:endParaRPr lang="en-US" sz="1300" dirty="0"/>
          </a:p>
        </p:txBody>
      </p:sp>
      <p:sp>
        <p:nvSpPr>
          <p:cNvPr id="11" name="Text 8"/>
          <p:cNvSpPr/>
          <p:nvPr/>
        </p:nvSpPr>
        <p:spPr>
          <a:xfrm>
            <a:off x="822960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0.9301</a:t>
            </a:r>
            <a:endParaRPr lang="en-US" sz="2400" dirty="0"/>
          </a:p>
        </p:txBody>
      </p:sp>
      <p:sp>
        <p:nvSpPr>
          <p:cNvPr id="12" name="Text 9"/>
          <p:cNvSpPr/>
          <p:nvPr/>
        </p:nvSpPr>
        <p:spPr>
          <a:xfrm>
            <a:off x="822960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Test 1</a:t>
            </a:r>
            <a:endParaRPr lang="en-US" sz="1300" dirty="0"/>
          </a:p>
        </p:txBody>
      </p:sp>
      <p:sp>
        <p:nvSpPr>
          <p:cNvPr id="13" name="Text 10"/>
          <p:cNvSpPr/>
          <p:nvPr/>
        </p:nvSpPr>
        <p:spPr>
          <a:xfrm>
            <a:off x="9784080" y="1920240"/>
            <a:ext cx="1371600" cy="640080"/>
          </a:xfrm>
          <a:prstGeom prst="rect">
            <a:avLst/>
          </a:prstGeom>
          <a:noFill/>
          <a:ln/>
        </p:spPr>
        <p:txBody>
          <a:bodyPr wrap="square" rtlCol="0" anchor="ctr"/>
          <a:lstStyle/>
          <a:p>
            <a:pPr algn="ctr" indent="0" marL="0">
              <a:buNone/>
            </a:pPr>
            <a:r>
              <a:rPr lang="en-US" sz="2400" b="1" dirty="0">
                <a:solidFill>
                  <a:srgbClr val="1E2761"/>
                </a:solidFill>
                <a:latin typeface="Calibri" pitchFamily="34" charset="0"/>
                <a:ea typeface="Calibri" pitchFamily="34" charset="-122"/>
                <a:cs typeface="Calibri" pitchFamily="34" charset="-120"/>
              </a:rPr>
              <a:t>0.9288</a:t>
            </a:r>
            <a:endParaRPr lang="en-US" sz="2400" dirty="0"/>
          </a:p>
        </p:txBody>
      </p:sp>
      <p:sp>
        <p:nvSpPr>
          <p:cNvPr id="14" name="Text 11"/>
          <p:cNvSpPr/>
          <p:nvPr/>
        </p:nvSpPr>
        <p:spPr>
          <a:xfrm>
            <a:off x="9784080" y="2560320"/>
            <a:ext cx="1371600" cy="365760"/>
          </a:xfrm>
          <a:prstGeom prst="rect">
            <a:avLst/>
          </a:prstGeom>
          <a:noFill/>
          <a:ln/>
        </p:spPr>
        <p:txBody>
          <a:bodyPr wrap="square" rtlCol="0" anchor="ctr"/>
          <a:lstStyle/>
          <a:p>
            <a:pPr algn="ctr" indent="0" marL="0">
              <a:buNone/>
            </a:pPr>
            <a:r>
              <a:rPr lang="en-US" sz="1300" dirty="0">
                <a:solidFill>
                  <a:srgbClr val="6B7280"/>
                </a:solidFill>
                <a:latin typeface="Calibri" pitchFamily="34" charset="0"/>
                <a:ea typeface="Calibri" pitchFamily="34" charset="-122"/>
                <a:cs typeface="Calibri" pitchFamily="34" charset="-120"/>
              </a:rPr>
              <a:t>Test 2</a:t>
            </a:r>
            <a:endParaRPr lang="en-US" sz="1300" dirty="0"/>
          </a:p>
        </p:txBody>
      </p:sp>
      <p:sp>
        <p:nvSpPr>
          <p:cNvPr id="15" name="Text 12"/>
          <p:cNvSpPr/>
          <p:nvPr/>
        </p:nvSpPr>
        <p:spPr>
          <a:xfrm>
            <a:off x="548640" y="4114800"/>
            <a:ext cx="10972800" cy="365760"/>
          </a:xfrm>
          <a:prstGeom prst="rect">
            <a:avLst/>
          </a:prstGeom>
          <a:noFill/>
          <a:ln/>
        </p:spPr>
        <p:txBody>
          <a:bodyPr wrap="square" rtlCol="0" anchor="ctr"/>
          <a:lstStyle/>
          <a:p>
            <a:pPr indent="0" marL="0">
              <a:buNone/>
            </a:pPr>
            <a:r>
              <a:rPr lang="en-US" sz="1300" dirty="0">
                <a:solidFill>
                  <a:srgbClr val="0D1B2A"/>
                </a:solidFill>
                <a:latin typeface="Calibri" pitchFamily="34" charset="0"/>
                <a:ea typeface="Calibri" pitchFamily="34" charset="-122"/>
                <a:cs typeface="Calibri" pitchFamily="34" charset="-120"/>
              </a:rPr>
              <a:t>Rank ordering shows clean separation across quartiles, consistent with the XGBoost model pattern.</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Final Model Selection</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828800" y="1371600"/>
          <a:ext cx="8503920" cy="914400"/>
        </p:xfrm>
        <a:graphic>
          <a:graphicData uri="http://schemas.openxmlformats.org/drawingml/2006/table">
            <a:tbl>
              <a:tblPr/>
              <a:tblGrid>
                <a:gridCol w="2834640"/>
                <a:gridCol w="2834640"/>
                <a:gridCol w="283464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Metric</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XGBoost</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Neural Network</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65760">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AUC Train</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0.9431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0.9301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AUC Test 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0.9413</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0.9301</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AUC Test 2</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0.9402</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0.9288</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411480">
                <a:tc>
                  <a:txBody>
                    <a:bodyPr/>
                    <a:lstStyle/>
                    <a:p>
                      <a:pPr algn="ctr" indent="0" marL="0">
                        <a:buNone/>
                      </a:pPr>
                      <a:r>
                        <a:rPr lang="en-US" sz="1400" b="1" dirty="0">
                          <a:solidFill>
                            <a:srgbClr val="000000"/>
                          </a:solidFill>
                          <a:latin typeface="Calibri" pitchFamily="34" charset="0"/>
                          <a:ea typeface="Calibri" pitchFamily="34" charset="-122"/>
                          <a:cs typeface="Calibri" pitchFamily="34" charset="-120"/>
                        </a:rPr>
                        <a:t>Average AUC</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b="1" dirty="0">
                          <a:solidFill>
                            <a:srgbClr val="22C55E"/>
                          </a:solidFill>
                          <a:latin typeface="Calibri" pitchFamily="34" charset="0"/>
                          <a:ea typeface="Calibri" pitchFamily="34" charset="-122"/>
                          <a:cs typeface="Calibri" pitchFamily="34" charset="-120"/>
                        </a:rPr>
                        <a:t>0.9415</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0.9297</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65760">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Std AUC</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0.0015</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400" dirty="0">
                          <a:solidFill>
                            <a:srgbClr val="000000"/>
                          </a:solidFill>
                          <a:latin typeface="Calibri" pitchFamily="34" charset="0"/>
                          <a:ea typeface="Calibri" pitchFamily="34" charset="-122"/>
                          <a:cs typeface="Calibri" pitchFamily="34" charset="-120"/>
                        </a:rPr>
                        <a:t>0.0008</a:t>
                      </a:r>
                      <a:endParaRPr lang="en-US" sz="14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5" name="Shape 2"/>
          <p:cNvSpPr/>
          <p:nvPr/>
        </p:nvSpPr>
        <p:spPr>
          <a:xfrm>
            <a:off x="1828800" y="3931920"/>
            <a:ext cx="8503920" cy="2011680"/>
          </a:xfrm>
          <a:prstGeom prst="roundRect">
            <a:avLst>
              <a:gd name="adj" fmla="val 4545"/>
            </a:avLst>
          </a:prstGeom>
          <a:solidFill>
            <a:srgbClr val="F3F4F6"/>
          </a:solidFill>
          <a:ln/>
        </p:spPr>
      </p:sp>
      <p:sp>
        <p:nvSpPr>
          <p:cNvPr id="6" name="Text 3"/>
          <p:cNvSpPr/>
          <p:nvPr/>
        </p:nvSpPr>
        <p:spPr>
          <a:xfrm>
            <a:off x="2103120" y="4023360"/>
            <a:ext cx="7955280" cy="548640"/>
          </a:xfrm>
          <a:prstGeom prst="rect">
            <a:avLst/>
          </a:prstGeom>
          <a:noFill/>
          <a:ln/>
        </p:spPr>
        <p:txBody>
          <a:bodyPr wrap="square" rtlCol="0" anchor="ctr"/>
          <a:lstStyle/>
          <a:p>
            <a:pPr indent="0" marL="0">
              <a:buNone/>
            </a:pPr>
            <a:r>
              <a:rPr lang="en-US" sz="2200" b="1" dirty="0">
                <a:solidFill>
                  <a:srgbClr val="1E2761"/>
                </a:solidFill>
                <a:latin typeface="Calibri" pitchFamily="34" charset="0"/>
                <a:ea typeface="Calibri" pitchFamily="34" charset="-122"/>
                <a:cs typeface="Calibri" pitchFamily="34" charset="-120"/>
              </a:rPr>
              <a:t>Winner: XGBoost</a:t>
            </a:r>
            <a:endParaRPr lang="en-US" sz="2200" dirty="0"/>
          </a:p>
        </p:txBody>
      </p:sp>
      <p:sp>
        <p:nvSpPr>
          <p:cNvPr id="7" name="Text 4"/>
          <p:cNvSpPr/>
          <p:nvPr/>
        </p:nvSpPr>
        <p:spPr>
          <a:xfrm>
            <a:off x="2103120" y="4572000"/>
            <a:ext cx="7955280" cy="1188720"/>
          </a:xfrm>
          <a:prstGeom prst="rect">
            <a:avLst/>
          </a:prstGeom>
          <a:noFill/>
          <a:ln/>
        </p:spPr>
        <p:txBody>
          <a:bodyPr wrap="square" rtlCol="0" anchor="t"/>
          <a:lstStyle/>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XGBoost outperforms the Neural Network on all three samples with an average AUC of 0.9415 vs 0.9297. While both models show minimal overfitting, XGBoost achieves 1.2 percentage points higher AUC, meaning it more accurately separates defaulters from non-defaulters.</a:t>
            </a:r>
            <a:endParaRPr lang="en-US" sz="1300" dirty="0"/>
          </a:p>
          <a:p>
            <a:pPr indent="0" marL="0">
              <a:lnSpc>
                <a:spcPct val="130000"/>
              </a:lnSpc>
              <a:buNone/>
            </a:pPr>
            <a:endParaRPr lang="en-US" sz="1300" dirty="0"/>
          </a:p>
          <a:p>
            <a:pPr indent="0" marL="0">
              <a:lnSpc>
                <a:spcPct val="130000"/>
              </a:lnSpc>
              <a:buNone/>
            </a:pPr>
            <a:r>
              <a:rPr lang="en-US" sz="1300" dirty="0">
                <a:solidFill>
                  <a:srgbClr val="0D1B2A"/>
                </a:solidFill>
                <a:latin typeface="Calibri" pitchFamily="34" charset="0"/>
                <a:ea typeface="Calibri" pitchFamily="34" charset="-122"/>
                <a:cs typeface="Calibri" pitchFamily="34" charset="-120"/>
              </a:rPr>
              <a:t>Additional advantages of XGBoost: faster training, built-in handling of missing values, interpretable feature importance, and SHAP analysis for explainability.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274320"/>
            <a:ext cx="10972800" cy="731520"/>
          </a:xfrm>
          <a:prstGeom prst="rect">
            <a:avLst/>
          </a:prstGeom>
          <a:noFill/>
          <a:ln/>
        </p:spPr>
        <p:txBody>
          <a:bodyPr wrap="square" rtlCol="0" anchor="ctr"/>
          <a:lstStyle/>
          <a:p>
            <a:pPr indent="0" marL="0">
              <a:buNone/>
            </a:pPr>
            <a:r>
              <a:rPr lang="en-US" sz="3600" b="1" dirty="0">
                <a:solidFill>
                  <a:srgbClr val="1E2761"/>
                </a:solidFill>
                <a:latin typeface="Calibri" pitchFamily="34" charset="0"/>
                <a:ea typeface="Calibri" pitchFamily="34" charset="-122"/>
                <a:cs typeface="Calibri" pitchFamily="34" charset="-120"/>
              </a:rPr>
              <a:t>Credit Strategy</a:t>
            </a:r>
            <a:endParaRPr lang="en-US" sz="3600" dirty="0"/>
          </a:p>
        </p:txBody>
      </p:sp>
      <p:sp>
        <p:nvSpPr>
          <p:cNvPr id="3" name="Text 1"/>
          <p:cNvSpPr/>
          <p:nvPr/>
        </p:nvSpPr>
        <p:spPr>
          <a:xfrm>
            <a:off x="11247120" y="640080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4" name="Shape 2"/>
          <p:cNvSpPr/>
          <p:nvPr/>
        </p:nvSpPr>
        <p:spPr>
          <a:xfrm>
            <a:off x="548640" y="1097280"/>
            <a:ext cx="5943600" cy="2560320"/>
          </a:xfrm>
          <a:prstGeom prst="roundRect">
            <a:avLst>
              <a:gd name="adj" fmla="val 3571"/>
            </a:avLst>
          </a:prstGeom>
          <a:solidFill>
            <a:srgbClr val="0D1B2A"/>
          </a:solidFill>
          <a:ln/>
        </p:spPr>
      </p:sp>
      <p:sp>
        <p:nvSpPr>
          <p:cNvPr id="5" name="Text 3"/>
          <p:cNvSpPr/>
          <p:nvPr/>
        </p:nvSpPr>
        <p:spPr>
          <a:xfrm>
            <a:off x="731520" y="1280160"/>
            <a:ext cx="5577840" cy="2194560"/>
          </a:xfrm>
          <a:prstGeom prst="rect">
            <a:avLst/>
          </a:prstGeom>
          <a:noFill/>
          <a:ln/>
        </p:spPr>
        <p:txBody>
          <a:bodyPr wrap="square" rtlCol="0" anchor="t"/>
          <a:lstStyle/>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def strategy(data, target, pred,</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bal, spend, threshold):</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accepted = data[data[pred] &lt; threshold]</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default_rate = accepted[target].mean()</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non_def = accepted[accepted[target]==0]</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revenue = (</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non_def[bal]*0.02 +</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non_def[spend]*0.001</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).sum() * 12</a:t>
            </a:r>
            <a:endParaRPr lang="en-US" sz="1100" dirty="0"/>
          </a:p>
          <a:p>
            <a:pPr indent="0" marL="0">
              <a:lnSpc>
                <a:spcPct val="130000"/>
              </a:lnSpc>
              <a:buNone/>
            </a:pPr>
            <a:r>
              <a:rPr lang="en-US" sz="1100" dirty="0">
                <a:solidFill>
                  <a:srgbClr val="CADCFC"/>
                </a:solidFill>
                <a:latin typeface="Courier New" pitchFamily="34" charset="0"/>
                <a:ea typeface="Courier New" pitchFamily="34" charset="-122"/>
                <a:cs typeface="Courier New" pitchFamily="34" charset="-120"/>
              </a:rPr>
              <a:t>    return default_rate, revenue</a:t>
            </a:r>
            <a:endParaRPr lang="en-US" sz="1100" dirty="0"/>
          </a:p>
        </p:txBody>
      </p:sp>
      <p:sp>
        <p:nvSpPr>
          <p:cNvPr id="6" name="Shape 4"/>
          <p:cNvSpPr/>
          <p:nvPr/>
        </p:nvSpPr>
        <p:spPr>
          <a:xfrm>
            <a:off x="6858000" y="1097280"/>
            <a:ext cx="4754880" cy="2560320"/>
          </a:xfrm>
          <a:prstGeom prst="roundRect">
            <a:avLst>
              <a:gd name="adj" fmla="val 3571"/>
            </a:avLst>
          </a:prstGeom>
          <a:solidFill>
            <a:srgbClr val="F3F4F6"/>
          </a:solidFill>
          <a:ln/>
        </p:spPr>
      </p:sp>
      <p:sp>
        <p:nvSpPr>
          <p:cNvPr id="7" name="Text 5"/>
          <p:cNvSpPr/>
          <p:nvPr/>
        </p:nvSpPr>
        <p:spPr>
          <a:xfrm>
            <a:off x="7132320" y="1188720"/>
            <a:ext cx="4206240" cy="365760"/>
          </a:xfrm>
          <a:prstGeom prst="rect">
            <a:avLst/>
          </a:prstGeom>
          <a:noFill/>
          <a:ln/>
        </p:spPr>
        <p:txBody>
          <a:bodyPr wrap="square"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Revenue Formula</a:t>
            </a:r>
            <a:endParaRPr lang="en-US" sz="1500" dirty="0"/>
          </a:p>
        </p:txBody>
      </p:sp>
      <p:sp>
        <p:nvSpPr>
          <p:cNvPr id="8" name="Text 6"/>
          <p:cNvSpPr/>
          <p:nvPr/>
        </p:nvSpPr>
        <p:spPr>
          <a:xfrm>
            <a:off x="7132320" y="1645920"/>
            <a:ext cx="4206240" cy="1828800"/>
          </a:xfrm>
          <a:prstGeom prst="rect">
            <a:avLst/>
          </a:prstGeom>
          <a:noFill/>
          <a:ln/>
        </p:spPr>
        <p:txBody>
          <a:bodyPr wrap="square" rtlCol="0" anchor="ctr"/>
          <a:lstStyle/>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Monthly Revenue per Customer =</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Balance x 0.02 + Spend x 0.001</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Annual Revenue = Monthly x 12</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Revenue = 0 for defaulting customers</a:t>
            </a:r>
            <a:endParaRPr lang="en-US" sz="1200" dirty="0"/>
          </a:p>
          <a:p>
            <a:pPr indent="0" marL="0">
              <a:lnSpc>
                <a:spcPct val="130000"/>
              </a:lnSpc>
              <a:buNone/>
            </a:pP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Balance: B_1 (6-month average)</a:t>
            </a:r>
            <a:endParaRPr lang="en-US" sz="1200" dirty="0"/>
          </a:p>
          <a:p>
            <a:pPr indent="0" marL="0">
              <a:lnSpc>
                <a:spcPct val="130000"/>
              </a:lnSpc>
              <a:buNone/>
            </a:pPr>
            <a:r>
              <a:rPr lang="en-US" sz="1200" dirty="0">
                <a:solidFill>
                  <a:srgbClr val="0D1B2A"/>
                </a:solidFill>
                <a:latin typeface="Calibri" pitchFamily="34" charset="0"/>
                <a:ea typeface="Calibri" pitchFamily="34" charset="-122"/>
                <a:cs typeface="Calibri" pitchFamily="34" charset="-120"/>
              </a:rPr>
              <a:t>Spend: S_3 (6-month average)</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3931920"/>
          <a:ext cx="10972800" cy="914400"/>
        </p:xfrm>
        <a:graphic>
          <a:graphicData uri="http://schemas.openxmlformats.org/drawingml/2006/table">
            <a:tbl>
              <a:tblPr/>
              <a:tblGrid>
                <a:gridCol w="2194560"/>
                <a:gridCol w="2194560"/>
                <a:gridCol w="2194560"/>
                <a:gridCol w="2194560"/>
                <a:gridCol w="2194560"/>
              </a:tblGrid>
              <a:tr h="347472">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Strategy</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Sample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Default Rate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Revenue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1E2761"/>
                    </a:solidFill>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Conservative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$364.55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Conservative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Test 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1.94%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$78.82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Conservative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Test 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1.78%</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$84.64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Aggressive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$706.64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Aggressive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Test 1</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8.24%</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$154.77</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r h="320040">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Aggressive</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Test 2</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0.75</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8.27%</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$156.17</a:t>
                      </a:r>
                      <a:endParaRPr lang="en-US" sz="1200" dirty="0">
                        <a:latin typeface="Calibri" charset="0"/>
                        <a:ea typeface="Calibri" charset="0"/>
                        <a:cs typeface="Calibri" charset="0"/>
                      </a:endParaRPr>
                    </a:p>
                  </a:txBody>
                  <a:tcPr marL="91440" marR="91440" marT="45720" marB="45720">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tcPr>
                </a:tc>
              </a:tr>
            </a:tbl>
          </a:graphicData>
        </a:graphic>
      </p:graphicFrame>
      <p:sp>
        <p:nvSpPr>
          <p:cNvPr id="10" name="Text 7"/>
          <p:cNvSpPr/>
          <p:nvPr/>
        </p:nvSpPr>
        <p:spPr>
          <a:xfrm>
            <a:off x="548640" y="6217920"/>
            <a:ext cx="10972800" cy="457200"/>
          </a:xfrm>
          <a:prstGeom prst="rect">
            <a:avLst/>
          </a:prstGeom>
          <a:noFill/>
          <a:ln/>
        </p:spPr>
        <p:txBody>
          <a:bodyPr wrap="square" rtlCol="0" anchor="ctr"/>
          <a:lstStyle/>
          <a:p>
            <a:pPr indent="0" marL="0">
              <a:buNone/>
            </a:pPr>
            <a:r>
              <a:rPr lang="en-US" sz="1200" dirty="0">
                <a:solidFill>
                  <a:srgbClr val="0D1B2A"/>
                </a:solidFill>
                <a:latin typeface="Calibri" pitchFamily="34" charset="0"/>
                <a:ea typeface="Calibri" pitchFamily="34" charset="-122"/>
                <a:cs typeface="Calibri" pitchFamily="34" charset="-120"/>
              </a:rPr>
              <a:t>Both strategies maintain consistent default rates across all samples, confirming the model's stability. The aggressive strategy is recommended as it nearly doubles revenue while staying well within the 10% default rate limit.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914400" y="2286000"/>
            <a:ext cx="10058400" cy="109728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3" name="Text 1"/>
          <p:cNvSpPr/>
          <p:nvPr/>
        </p:nvSpPr>
        <p:spPr>
          <a:xfrm>
            <a:off x="914400" y="3474720"/>
            <a:ext cx="10058400" cy="548640"/>
          </a:xfrm>
          <a:prstGeom prst="rect">
            <a:avLst/>
          </a:prstGeom>
          <a:noFill/>
          <a:ln/>
        </p:spPr>
        <p:txBody>
          <a:bodyPr wrap="square" rtlCol="0" anchor="ctr"/>
          <a:lstStyle/>
          <a:p>
            <a:pPr algn="ctr" indent="0" marL="0">
              <a:buNone/>
            </a:pPr>
            <a:r>
              <a:rPr lang="en-US" sz="1800" dirty="0">
                <a:solidFill>
                  <a:srgbClr val="CADCFC"/>
                </a:solidFill>
                <a:latin typeface="Calibri" pitchFamily="34" charset="0"/>
                <a:ea typeface="Calibri" pitchFamily="34" charset="-122"/>
                <a:cs typeface="Calibri" pitchFamily="34" charset="-120"/>
              </a:rPr>
              <a:t>Credit Risk Model | Prathik Raju</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2026-07-14T15:39:09Z</dcterms:created>
  <dcterms:modified xsi:type="dcterms:W3CDTF">2026-07-14T15:39:09Z</dcterms:modified>
</cp:coreProperties>
</file>